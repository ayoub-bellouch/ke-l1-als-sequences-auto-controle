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37" r:id="rId2"/>
    <p:sldId id="2147375673" r:id="rId3"/>
    <p:sldId id="2147375674" r:id="rId4"/>
    <p:sldId id="2147375677" r:id="rId5"/>
    <p:sldId id="2147375675" r:id="rId6"/>
    <p:sldId id="2147375678" r:id="rId7"/>
    <p:sldId id="2147375679" r:id="rId8"/>
    <p:sldId id="2147375680"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6B"/>
    <a:srgbClr val="E8EBEE"/>
    <a:srgbClr val="0B30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82876" autoAdjust="0"/>
  </p:normalViewPr>
  <p:slideViewPr>
    <p:cSldViewPr snapToGrid="0">
      <p:cViewPr>
        <p:scale>
          <a:sx n="75" d="100"/>
          <a:sy n="75" d="100"/>
        </p:scale>
        <p:origin x="974"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CA7FF-1CA2-4911-89E2-D5EA951CDA3F}" type="datetimeFigureOut">
              <a:rPr lang="fr-MA" smtClean="0"/>
              <a:t>28/07/2025</a:t>
            </a:fld>
            <a:endParaRPr lang="fr-M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A31CFB-6BC3-44C4-83D5-80E1AD46DADC}" type="slidenum">
              <a:rPr lang="fr-MA" smtClean="0"/>
              <a:t>‹N°›</a:t>
            </a:fld>
            <a:endParaRPr lang="fr-MA"/>
          </a:p>
        </p:txBody>
      </p:sp>
    </p:spTree>
    <p:extLst>
      <p:ext uri="{BB962C8B-B14F-4D97-AF65-F5344CB8AC3E}">
        <p14:creationId xmlns:p14="http://schemas.microsoft.com/office/powerpoint/2010/main" val="76272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1" i="0" dirty="0">
              <a:solidFill>
                <a:srgbClr val="11100F"/>
              </a:solidFill>
              <a:effectLst/>
              <a:highlight>
                <a:srgbClr val="FFFFFF"/>
              </a:highlight>
              <a:latin typeface="inherit"/>
            </a:endParaRPr>
          </a:p>
        </p:txBody>
      </p:sp>
      <p:sp>
        <p:nvSpPr>
          <p:cNvPr id="4" name="Slide Number Placeholder 3"/>
          <p:cNvSpPr>
            <a:spLocks noGrp="1"/>
          </p:cNvSpPr>
          <p:nvPr>
            <p:ph type="sldNum" sz="quarter" idx="10"/>
          </p:nvPr>
        </p:nvSpPr>
        <p:spPr/>
        <p:txBody>
          <a:bodyPr/>
          <a:lstStyle/>
          <a:p>
            <a:fld id="{D11D8E7D-1127-40A4-87D8-EBBC2DB6A81E}" type="slidenum">
              <a:rPr lang="en-US" smtClean="0"/>
              <a:t>1</a:t>
            </a:fld>
            <a:endParaRPr lang="en-US"/>
          </a:p>
        </p:txBody>
      </p:sp>
    </p:spTree>
    <p:extLst>
      <p:ext uri="{BB962C8B-B14F-4D97-AF65-F5344CB8AC3E}">
        <p14:creationId xmlns:p14="http://schemas.microsoft.com/office/powerpoint/2010/main" val="707758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5"/>
          </p:nvPr>
        </p:nvSpPr>
        <p:spPr/>
        <p:txBody>
          <a:bodyPr/>
          <a:lstStyle/>
          <a:p>
            <a:pPr marL="0" marR="0" lvl="0" indent="0" algn="r" defTabSz="483306" rtl="0" eaLnBrk="1" fontAlgn="auto" latinLnBrk="0" hangingPunct="1">
              <a:lnSpc>
                <a:spcPct val="100000"/>
              </a:lnSpc>
              <a:spcBef>
                <a:spcPts val="0"/>
              </a:spcBef>
              <a:spcAft>
                <a:spcPts val="0"/>
              </a:spcAft>
              <a:buClrTx/>
              <a:buSzTx/>
              <a:buFontTx/>
              <a:buNone/>
              <a:tabLst/>
              <a:defRPr/>
            </a:pPr>
            <a:fld id="{3564C4D7-92BA-2242-9B23-78755872B9DE}" type="slidenum">
              <a:rPr kumimoji="0"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rPr>
              <a:pPr marL="0" marR="0" lvl="0" indent="0" algn="r" defTabSz="483306" rtl="0" eaLnBrk="1" fontAlgn="auto" latinLnBrk="0" hangingPunct="1">
                <a:lnSpc>
                  <a:spcPct val="100000"/>
                </a:lnSpc>
                <a:spcBef>
                  <a:spcPts val="0"/>
                </a:spcBef>
                <a:spcAft>
                  <a:spcPts val="0"/>
                </a:spcAft>
                <a:buClrTx/>
                <a:buSzTx/>
                <a:buFontTx/>
                <a:buNone/>
                <a:tabLst/>
                <a:defRPr/>
              </a:pPr>
              <a:t>2</a:t>
            </a:fld>
            <a:endParaRPr kumimoji="0"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Tree>
    <p:extLst>
      <p:ext uri="{BB962C8B-B14F-4D97-AF65-F5344CB8AC3E}">
        <p14:creationId xmlns:p14="http://schemas.microsoft.com/office/powerpoint/2010/main" val="1693612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AFA31CFB-6BC3-44C4-83D5-80E1AD46DADC}" type="slidenum">
              <a:rPr lang="fr-MA" smtClean="0"/>
              <a:t>8</a:t>
            </a:fld>
            <a:endParaRPr lang="fr-MA"/>
          </a:p>
        </p:txBody>
      </p:sp>
    </p:spTree>
    <p:extLst>
      <p:ext uri="{BB962C8B-B14F-4D97-AF65-F5344CB8AC3E}">
        <p14:creationId xmlns:p14="http://schemas.microsoft.com/office/powerpoint/2010/main" val="79340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181327-9EAA-E436-9A6A-AE7EDF0EFE3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3" name="Sous-titre 2">
            <a:extLst>
              <a:ext uri="{FF2B5EF4-FFF2-40B4-BE49-F238E27FC236}">
                <a16:creationId xmlns:a16="http://schemas.microsoft.com/office/drawing/2014/main" id="{A96DFEA5-AACA-B1A8-4FA8-94BA01D9DD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A"/>
          </a:p>
        </p:txBody>
      </p:sp>
      <p:sp>
        <p:nvSpPr>
          <p:cNvPr id="4" name="Espace réservé de la date 3">
            <a:extLst>
              <a:ext uri="{FF2B5EF4-FFF2-40B4-BE49-F238E27FC236}">
                <a16:creationId xmlns:a16="http://schemas.microsoft.com/office/drawing/2014/main" id="{6BC7DC9F-4A32-CF90-5119-AB468E395ED2}"/>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5" name="Espace réservé du pied de page 4">
            <a:extLst>
              <a:ext uri="{FF2B5EF4-FFF2-40B4-BE49-F238E27FC236}">
                <a16:creationId xmlns:a16="http://schemas.microsoft.com/office/drawing/2014/main" id="{5BA14ABC-9591-8AB4-278E-8121CB90F3C9}"/>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7DD244CE-E725-11ED-4ABC-2BD8D8DC12DA}"/>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1975364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5835F4-B336-4F30-FA3C-6D3FD2D6F6A5}"/>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9781B71C-2C4F-A960-FDBC-B77C7BFB663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3B700E9E-BB01-1D6F-F1FE-ADEA5277936E}"/>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5" name="Espace réservé du pied de page 4">
            <a:extLst>
              <a:ext uri="{FF2B5EF4-FFF2-40B4-BE49-F238E27FC236}">
                <a16:creationId xmlns:a16="http://schemas.microsoft.com/office/drawing/2014/main" id="{C22EB6DC-1FE3-ECEC-747B-CC5749FD4C11}"/>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3A3AC5DE-859B-59D7-2090-1F892C6D56E6}"/>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1094557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028EDC-B9C4-ACDB-57DB-21EF4B0B74E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3" name="Espace réservé du texte 2">
            <a:extLst>
              <a:ext uri="{FF2B5EF4-FFF2-40B4-BE49-F238E27FC236}">
                <a16:creationId xmlns:a16="http://schemas.microsoft.com/office/drawing/2014/main" id="{2CAED62D-1C2C-951C-6F6E-140A1BC90A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FAD4E0C-2EA4-DCBD-A428-A306A7A073C1}"/>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5" name="Espace réservé du pied de page 4">
            <a:extLst>
              <a:ext uri="{FF2B5EF4-FFF2-40B4-BE49-F238E27FC236}">
                <a16:creationId xmlns:a16="http://schemas.microsoft.com/office/drawing/2014/main" id="{C4ECC676-7C0A-E154-C639-2BAF1EC298AC}"/>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2731E2E5-E0AC-8814-9229-F8C72976CCE0}"/>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4038256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EAD5B5-CEDC-90BE-9D87-BD708441712E}"/>
              </a:ext>
            </a:extLst>
          </p:cNvPr>
          <p:cNvSpPr>
            <a:spLocks noGrp="1"/>
          </p:cNvSpPr>
          <p:nvPr>
            <p:ph type="title"/>
          </p:nvPr>
        </p:nvSpPr>
        <p:spPr/>
        <p:txBody>
          <a:bodyPr/>
          <a:lstStyle/>
          <a:p>
            <a:r>
              <a:rPr lang="fr-FR"/>
              <a:t>Modifiez le style du titre</a:t>
            </a:r>
            <a:endParaRPr lang="fr-MA"/>
          </a:p>
        </p:txBody>
      </p:sp>
      <p:sp>
        <p:nvSpPr>
          <p:cNvPr id="3" name="Espace réservé du contenu 2">
            <a:extLst>
              <a:ext uri="{FF2B5EF4-FFF2-40B4-BE49-F238E27FC236}">
                <a16:creationId xmlns:a16="http://schemas.microsoft.com/office/drawing/2014/main" id="{9FE48801-28A9-ED2F-C089-27A3262206E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contenu 3">
            <a:extLst>
              <a:ext uri="{FF2B5EF4-FFF2-40B4-BE49-F238E27FC236}">
                <a16:creationId xmlns:a16="http://schemas.microsoft.com/office/drawing/2014/main" id="{8954AB0A-3D2C-9488-2199-68A5E09A880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e la date 4">
            <a:extLst>
              <a:ext uri="{FF2B5EF4-FFF2-40B4-BE49-F238E27FC236}">
                <a16:creationId xmlns:a16="http://schemas.microsoft.com/office/drawing/2014/main" id="{E5D61A45-E39A-AB4D-28A2-5415669E64E9}"/>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6" name="Espace réservé du pied de page 5">
            <a:extLst>
              <a:ext uri="{FF2B5EF4-FFF2-40B4-BE49-F238E27FC236}">
                <a16:creationId xmlns:a16="http://schemas.microsoft.com/office/drawing/2014/main" id="{CED1340E-ECA4-4DFF-3AF0-54836633138F}"/>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356755BA-42F0-69E3-DEDB-6FB6AABD08D8}"/>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4213011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00E5BC-3F46-8140-F7A6-130E77DF5141}"/>
              </a:ext>
            </a:extLst>
          </p:cNvPr>
          <p:cNvSpPr>
            <a:spLocks noGrp="1"/>
          </p:cNvSpPr>
          <p:nvPr>
            <p:ph type="title"/>
          </p:nvPr>
        </p:nvSpPr>
        <p:spPr>
          <a:xfrm>
            <a:off x="839788" y="365125"/>
            <a:ext cx="10515600" cy="1325563"/>
          </a:xfrm>
        </p:spPr>
        <p:txBody>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18BD1A3D-1DD5-95A9-7FAB-36849895AD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EF1447D-BB61-B245-3822-6D236D25954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5" name="Espace réservé du texte 4">
            <a:extLst>
              <a:ext uri="{FF2B5EF4-FFF2-40B4-BE49-F238E27FC236}">
                <a16:creationId xmlns:a16="http://schemas.microsoft.com/office/drawing/2014/main" id="{8FCFB0E7-5959-3DD5-CD90-31543FB896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6901C36-ED93-4D06-7B5C-094CCB4DE9C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7" name="Espace réservé de la date 6">
            <a:extLst>
              <a:ext uri="{FF2B5EF4-FFF2-40B4-BE49-F238E27FC236}">
                <a16:creationId xmlns:a16="http://schemas.microsoft.com/office/drawing/2014/main" id="{96416A74-4789-5A30-13AF-89D221BA0E0C}"/>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8" name="Espace réservé du pied de page 7">
            <a:extLst>
              <a:ext uri="{FF2B5EF4-FFF2-40B4-BE49-F238E27FC236}">
                <a16:creationId xmlns:a16="http://schemas.microsoft.com/office/drawing/2014/main" id="{AD01E4B6-B6E7-06C5-2AA7-44330DC7C042}"/>
              </a:ext>
            </a:extLst>
          </p:cNvPr>
          <p:cNvSpPr>
            <a:spLocks noGrp="1"/>
          </p:cNvSpPr>
          <p:nvPr>
            <p:ph type="ftr" sz="quarter" idx="11"/>
          </p:nvPr>
        </p:nvSpPr>
        <p:spPr/>
        <p:txBody>
          <a:bodyPr/>
          <a:lstStyle/>
          <a:p>
            <a:endParaRPr lang="fr-MA"/>
          </a:p>
        </p:txBody>
      </p:sp>
      <p:sp>
        <p:nvSpPr>
          <p:cNvPr id="9" name="Espace réservé du numéro de diapositive 8">
            <a:extLst>
              <a:ext uri="{FF2B5EF4-FFF2-40B4-BE49-F238E27FC236}">
                <a16:creationId xmlns:a16="http://schemas.microsoft.com/office/drawing/2014/main" id="{656D7294-F081-3B0B-B342-14BD36297607}"/>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180925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1A5A2F-0588-50A9-DBD2-8A979334C8D8}"/>
              </a:ext>
            </a:extLst>
          </p:cNvPr>
          <p:cNvSpPr>
            <a:spLocks noGrp="1"/>
          </p:cNvSpPr>
          <p:nvPr>
            <p:ph type="title"/>
          </p:nvPr>
        </p:nvSpPr>
        <p:spPr/>
        <p:txBody>
          <a:bodyPr/>
          <a:lstStyle/>
          <a:p>
            <a:r>
              <a:rPr lang="fr-FR"/>
              <a:t>Modifiez le style du titre</a:t>
            </a:r>
            <a:endParaRPr lang="fr-MA"/>
          </a:p>
        </p:txBody>
      </p:sp>
      <p:sp>
        <p:nvSpPr>
          <p:cNvPr id="3" name="Espace réservé de la date 2">
            <a:extLst>
              <a:ext uri="{FF2B5EF4-FFF2-40B4-BE49-F238E27FC236}">
                <a16:creationId xmlns:a16="http://schemas.microsoft.com/office/drawing/2014/main" id="{FC7CBCA5-B873-F4B3-F23F-47448737BDF8}"/>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4" name="Espace réservé du pied de page 3">
            <a:extLst>
              <a:ext uri="{FF2B5EF4-FFF2-40B4-BE49-F238E27FC236}">
                <a16:creationId xmlns:a16="http://schemas.microsoft.com/office/drawing/2014/main" id="{D70691C4-B7A4-B711-DEB3-F55F5A65BF2D}"/>
              </a:ext>
            </a:extLst>
          </p:cNvPr>
          <p:cNvSpPr>
            <a:spLocks noGrp="1"/>
          </p:cNvSpPr>
          <p:nvPr>
            <p:ph type="ftr" sz="quarter" idx="11"/>
          </p:nvPr>
        </p:nvSpPr>
        <p:spPr/>
        <p:txBody>
          <a:bodyPr/>
          <a:lstStyle/>
          <a:p>
            <a:endParaRPr lang="fr-MA"/>
          </a:p>
        </p:txBody>
      </p:sp>
      <p:sp>
        <p:nvSpPr>
          <p:cNvPr id="5" name="Espace réservé du numéro de diapositive 4">
            <a:extLst>
              <a:ext uri="{FF2B5EF4-FFF2-40B4-BE49-F238E27FC236}">
                <a16:creationId xmlns:a16="http://schemas.microsoft.com/office/drawing/2014/main" id="{D0AFD2A1-A46D-BE91-B34F-38DD216ED75A}"/>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154375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4129CDF-B75A-90C2-083F-EE0ECC5808A9}"/>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3" name="Espace réservé du pied de page 2">
            <a:extLst>
              <a:ext uri="{FF2B5EF4-FFF2-40B4-BE49-F238E27FC236}">
                <a16:creationId xmlns:a16="http://schemas.microsoft.com/office/drawing/2014/main" id="{6AEF836D-FE5C-39CC-C622-A197C8F473AD}"/>
              </a:ext>
            </a:extLst>
          </p:cNvPr>
          <p:cNvSpPr>
            <a:spLocks noGrp="1"/>
          </p:cNvSpPr>
          <p:nvPr>
            <p:ph type="ftr" sz="quarter" idx="11"/>
          </p:nvPr>
        </p:nvSpPr>
        <p:spPr/>
        <p:txBody>
          <a:bodyPr/>
          <a:lstStyle/>
          <a:p>
            <a:endParaRPr lang="fr-MA"/>
          </a:p>
        </p:txBody>
      </p:sp>
      <p:sp>
        <p:nvSpPr>
          <p:cNvPr id="4" name="Espace réservé du numéro de diapositive 3">
            <a:extLst>
              <a:ext uri="{FF2B5EF4-FFF2-40B4-BE49-F238E27FC236}">
                <a16:creationId xmlns:a16="http://schemas.microsoft.com/office/drawing/2014/main" id="{10FEF986-D5D8-0787-C5F6-6106D085BEDE}"/>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242354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8F8AC-B664-C1B0-5516-B0BF95BEBCE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du contenu 2">
            <a:extLst>
              <a:ext uri="{FF2B5EF4-FFF2-40B4-BE49-F238E27FC236}">
                <a16:creationId xmlns:a16="http://schemas.microsoft.com/office/drawing/2014/main" id="{3AD6EF0C-E158-382D-57F2-38C3814686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u texte 3">
            <a:extLst>
              <a:ext uri="{FF2B5EF4-FFF2-40B4-BE49-F238E27FC236}">
                <a16:creationId xmlns:a16="http://schemas.microsoft.com/office/drawing/2014/main" id="{DD63A541-82EB-04AC-9D3E-A612C0B448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EAA000F-E4A3-42A7-A3E3-A0E559E7EF68}"/>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6" name="Espace réservé du pied de page 5">
            <a:extLst>
              <a:ext uri="{FF2B5EF4-FFF2-40B4-BE49-F238E27FC236}">
                <a16:creationId xmlns:a16="http://schemas.microsoft.com/office/drawing/2014/main" id="{C69CAE15-BA4C-44ED-C8D1-F4CEDFEBEFBD}"/>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25250C05-BEBF-5A8E-516E-7B9DD4BCDC02}"/>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315246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3CBA80-E952-07CB-FBEA-8005DE46D16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3" name="Espace réservé pour une image  2">
            <a:extLst>
              <a:ext uri="{FF2B5EF4-FFF2-40B4-BE49-F238E27FC236}">
                <a16:creationId xmlns:a16="http://schemas.microsoft.com/office/drawing/2014/main" id="{93FE19D5-CEF3-2D77-A7DC-DB24151C0A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A"/>
          </a:p>
        </p:txBody>
      </p:sp>
      <p:sp>
        <p:nvSpPr>
          <p:cNvPr id="4" name="Espace réservé du texte 3">
            <a:extLst>
              <a:ext uri="{FF2B5EF4-FFF2-40B4-BE49-F238E27FC236}">
                <a16:creationId xmlns:a16="http://schemas.microsoft.com/office/drawing/2014/main" id="{DDA9304F-C6CF-25FA-E795-6281CEC1A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AB37B5-3041-93E3-3036-7DCCCBC689A3}"/>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6" name="Espace réservé du pied de page 5">
            <a:extLst>
              <a:ext uri="{FF2B5EF4-FFF2-40B4-BE49-F238E27FC236}">
                <a16:creationId xmlns:a16="http://schemas.microsoft.com/office/drawing/2014/main" id="{53B90925-C76E-6922-5DA8-5C23080BD62E}"/>
              </a:ext>
            </a:extLst>
          </p:cNvPr>
          <p:cNvSpPr>
            <a:spLocks noGrp="1"/>
          </p:cNvSpPr>
          <p:nvPr>
            <p:ph type="ftr" sz="quarter" idx="11"/>
          </p:nvPr>
        </p:nvSpPr>
        <p:spPr/>
        <p:txBody>
          <a:bodyPr/>
          <a:lstStyle/>
          <a:p>
            <a:endParaRPr lang="fr-MA"/>
          </a:p>
        </p:txBody>
      </p:sp>
      <p:sp>
        <p:nvSpPr>
          <p:cNvPr id="7" name="Espace réservé du numéro de diapositive 6">
            <a:extLst>
              <a:ext uri="{FF2B5EF4-FFF2-40B4-BE49-F238E27FC236}">
                <a16:creationId xmlns:a16="http://schemas.microsoft.com/office/drawing/2014/main" id="{98E951F9-646F-EC90-03E4-F146738631AF}"/>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3628933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2C9FA8-86EB-54D3-6146-23F0B72B644B}"/>
              </a:ext>
            </a:extLst>
          </p:cNvPr>
          <p:cNvSpPr>
            <a:spLocks noGrp="1"/>
          </p:cNvSpPr>
          <p:nvPr>
            <p:ph type="title"/>
          </p:nvPr>
        </p:nvSpPr>
        <p:spPr/>
        <p:txBody>
          <a:bodyPr/>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9B8EBCF4-B66C-BEF6-13E4-24AA6BCBEE2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F68915FC-F0CE-CCDD-FBBB-736884832647}"/>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5" name="Espace réservé du pied de page 4">
            <a:extLst>
              <a:ext uri="{FF2B5EF4-FFF2-40B4-BE49-F238E27FC236}">
                <a16:creationId xmlns:a16="http://schemas.microsoft.com/office/drawing/2014/main" id="{40451EB3-7C7D-72BB-85AD-FBE2BC3D6E4D}"/>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55DB3081-DDCB-AB23-9A20-08E116E441CD}"/>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2156970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6E483D8-7B43-660E-70D5-95DF005BE717}"/>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A"/>
          </a:p>
        </p:txBody>
      </p:sp>
      <p:sp>
        <p:nvSpPr>
          <p:cNvPr id="3" name="Espace réservé du texte vertical 2">
            <a:extLst>
              <a:ext uri="{FF2B5EF4-FFF2-40B4-BE49-F238E27FC236}">
                <a16:creationId xmlns:a16="http://schemas.microsoft.com/office/drawing/2014/main" id="{EB9BE730-CBCC-2172-4B87-06CF98A1350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5D3D26D8-AF52-067C-EFAE-821961BF9BAE}"/>
              </a:ext>
            </a:extLst>
          </p:cNvPr>
          <p:cNvSpPr>
            <a:spLocks noGrp="1"/>
          </p:cNvSpPr>
          <p:nvPr>
            <p:ph type="dt" sz="half" idx="10"/>
          </p:nvPr>
        </p:nvSpPr>
        <p:spPr/>
        <p:txBody>
          <a:bodyPr/>
          <a:lstStyle/>
          <a:p>
            <a:fld id="{855C4800-B95D-4CA0-A6B6-BF1671CB08C6}" type="datetimeFigureOut">
              <a:rPr lang="fr-MA" smtClean="0"/>
              <a:t>28/07/2025</a:t>
            </a:fld>
            <a:endParaRPr lang="fr-MA"/>
          </a:p>
        </p:txBody>
      </p:sp>
      <p:sp>
        <p:nvSpPr>
          <p:cNvPr id="5" name="Espace réservé du pied de page 4">
            <a:extLst>
              <a:ext uri="{FF2B5EF4-FFF2-40B4-BE49-F238E27FC236}">
                <a16:creationId xmlns:a16="http://schemas.microsoft.com/office/drawing/2014/main" id="{05253156-F31B-ABA4-0A09-8FDD1D99732D}"/>
              </a:ext>
            </a:extLst>
          </p:cNvPr>
          <p:cNvSpPr>
            <a:spLocks noGrp="1"/>
          </p:cNvSpPr>
          <p:nvPr>
            <p:ph type="ftr" sz="quarter" idx="11"/>
          </p:nvPr>
        </p:nvSpPr>
        <p:spPr/>
        <p:txBody>
          <a:bodyPr/>
          <a:lstStyle/>
          <a:p>
            <a:endParaRPr lang="fr-MA"/>
          </a:p>
        </p:txBody>
      </p:sp>
      <p:sp>
        <p:nvSpPr>
          <p:cNvPr id="6" name="Espace réservé du numéro de diapositive 5">
            <a:extLst>
              <a:ext uri="{FF2B5EF4-FFF2-40B4-BE49-F238E27FC236}">
                <a16:creationId xmlns:a16="http://schemas.microsoft.com/office/drawing/2014/main" id="{DA008C26-D43A-85B0-E2D5-E03962A901DC}"/>
              </a:ext>
            </a:extLst>
          </p:cNvPr>
          <p:cNvSpPr>
            <a:spLocks noGrp="1"/>
          </p:cNvSpPr>
          <p:nvPr>
            <p:ph type="sldNum" sz="quarter" idx="12"/>
          </p:nvPr>
        </p:nvSpPr>
        <p:spPr/>
        <p:txBody>
          <a:bodyPr/>
          <a:lstStyle/>
          <a:p>
            <a:fld id="{A0982A3D-8BF2-45DC-8AC7-923DDD6D3B35}" type="slidenum">
              <a:rPr lang="fr-MA" smtClean="0"/>
              <a:t>‹N°›</a:t>
            </a:fld>
            <a:endParaRPr lang="fr-MA"/>
          </a:p>
        </p:txBody>
      </p:sp>
    </p:spTree>
    <p:extLst>
      <p:ext uri="{BB962C8B-B14F-4D97-AF65-F5344CB8AC3E}">
        <p14:creationId xmlns:p14="http://schemas.microsoft.com/office/powerpoint/2010/main" val="3740943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Header &amp; Contents">
    <p:spTree>
      <p:nvGrpSpPr>
        <p:cNvPr id="1" name=""/>
        <p:cNvGrpSpPr/>
        <p:nvPr/>
      </p:nvGrpSpPr>
      <p:grpSpPr>
        <a:xfrm>
          <a:off x="0" y="0"/>
          <a:ext cx="0" cy="0"/>
          <a:chOff x="0" y="0"/>
          <a:chExt cx="0" cy="0"/>
        </a:xfrm>
      </p:grpSpPr>
      <p:sp>
        <p:nvSpPr>
          <p:cNvPr id="7" name="正方形/長方形 6"/>
          <p:cNvSpPr/>
          <p:nvPr userDrawn="1"/>
        </p:nvSpPr>
        <p:spPr>
          <a:xfrm>
            <a:off x="175485" y="160555"/>
            <a:ext cx="11845364" cy="798631"/>
          </a:xfrm>
          <a:prstGeom prst="rect">
            <a:avLst/>
          </a:prstGeom>
          <a:solidFill>
            <a:srgbClr val="00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kumimoji="1" lang="ja-JP" altLang="en-US" sz="2400"/>
          </a:p>
        </p:txBody>
      </p:sp>
      <p:sp>
        <p:nvSpPr>
          <p:cNvPr id="2" name="タイトル 1"/>
          <p:cNvSpPr>
            <a:spLocks noGrp="1"/>
          </p:cNvSpPr>
          <p:nvPr userDrawn="1">
            <p:ph type="title" hasCustomPrompt="1"/>
          </p:nvPr>
        </p:nvSpPr>
        <p:spPr bwMode="white">
          <a:xfrm>
            <a:off x="290802" y="194266"/>
            <a:ext cx="10076223" cy="697537"/>
          </a:xfrm>
        </p:spPr>
        <p:txBody>
          <a:bodyPr>
            <a:normAutofit/>
          </a:bodyPr>
          <a:lstStyle>
            <a:lvl1pPr>
              <a:defRPr sz="3200">
                <a:latin typeface="+mn-lt"/>
              </a:defRPr>
            </a:lvl1pPr>
          </a:lstStyle>
          <a:p>
            <a:r>
              <a:rPr lang="en-US" altLang="ja-JP" dirty="0"/>
              <a:t>Header-Contents</a:t>
            </a:r>
            <a:endParaRPr kumimoji="1" lang="ja-JP" altLang="en-US" dirty="0"/>
          </a:p>
        </p:txBody>
      </p:sp>
      <p:sp>
        <p:nvSpPr>
          <p:cNvPr id="3" name="コンテンツ プレースホルダー 2"/>
          <p:cNvSpPr>
            <a:spLocks noGrp="1"/>
          </p:cNvSpPr>
          <p:nvPr userDrawn="1">
            <p:ph idx="1" hasCustomPrompt="1"/>
          </p:nvPr>
        </p:nvSpPr>
        <p:spPr>
          <a:xfrm>
            <a:off x="172800" y="1110421"/>
            <a:ext cx="11846400" cy="5280000"/>
          </a:xfrm>
        </p:spPr>
        <p:txBody>
          <a:bodyPr>
            <a:normAutofit/>
          </a:bodyPr>
          <a:lstStyle>
            <a:lvl1pPr>
              <a:buClr>
                <a:srgbClr val="465A64"/>
              </a:buClr>
              <a:defRPr sz="3200" baseline="0">
                <a:solidFill>
                  <a:srgbClr val="465A64"/>
                </a:solidFill>
                <a:latin typeface="+mn-lt"/>
              </a:defRPr>
            </a:lvl1pPr>
            <a:lvl2pPr>
              <a:buClr>
                <a:srgbClr val="465A64"/>
              </a:buClr>
              <a:defRPr sz="2667">
                <a:solidFill>
                  <a:srgbClr val="465A64"/>
                </a:solidFill>
                <a:latin typeface="+mn-lt"/>
              </a:defRPr>
            </a:lvl2pPr>
            <a:lvl3pPr marL="1600160" indent="-380990">
              <a:buClr>
                <a:srgbClr val="465A64"/>
              </a:buClr>
              <a:buFont typeface="Arial" panose="020B0604020202020204" pitchFamily="34" charset="0"/>
              <a:buChar char="-"/>
              <a:defRPr sz="2400">
                <a:solidFill>
                  <a:srgbClr val="465A64"/>
                </a:solidFill>
                <a:latin typeface="+mn-lt"/>
              </a:defRPr>
            </a:lvl3pPr>
            <a:lvl4pPr marL="2209745" indent="-380990">
              <a:buClr>
                <a:srgbClr val="465A64"/>
              </a:buClr>
              <a:buFont typeface="Arial" panose="020B0604020202020204" pitchFamily="34" charset="0"/>
              <a:buChar char="-"/>
              <a:defRPr sz="2133">
                <a:solidFill>
                  <a:srgbClr val="465A64"/>
                </a:solidFill>
                <a:latin typeface="+mn-lt"/>
              </a:defRPr>
            </a:lvl4pPr>
            <a:lvl5pPr marL="2819330" indent="-380990">
              <a:buClr>
                <a:srgbClr val="465A64"/>
              </a:buClr>
              <a:buFont typeface="Arial" panose="020B0604020202020204" pitchFamily="34" charset="0"/>
              <a:buChar char="-"/>
              <a:defRPr sz="1867">
                <a:solidFill>
                  <a:srgbClr val="465A64"/>
                </a:solidFill>
                <a:latin typeface="+mn-lt"/>
              </a:defRPr>
            </a:lvl5pPr>
          </a:lstStyle>
          <a:p>
            <a:pPr lvl="0"/>
            <a:r>
              <a:rPr lang="en-US" altLang="ja-JP" dirty="0"/>
              <a:t>24pt master text</a:t>
            </a:r>
          </a:p>
          <a:p>
            <a:pPr lvl="1"/>
            <a:r>
              <a:rPr lang="en-US" altLang="ja-JP" dirty="0"/>
              <a:t>20pt second level</a:t>
            </a:r>
          </a:p>
          <a:p>
            <a:pPr lvl="2"/>
            <a:r>
              <a:rPr lang="en-US" altLang="ja-JP" dirty="0"/>
              <a:t>Third level</a:t>
            </a:r>
          </a:p>
          <a:p>
            <a:pPr lvl="3"/>
            <a:r>
              <a:rPr lang="en-US" altLang="ja-JP" dirty="0"/>
              <a:t>Fourth level</a:t>
            </a:r>
          </a:p>
          <a:p>
            <a:pPr lvl="4"/>
            <a:r>
              <a:rPr lang="en-US" altLang="ja-JP" dirty="0"/>
              <a:t>Fifth level</a:t>
            </a:r>
          </a:p>
          <a:p>
            <a:pPr marL="609585" marR="0" lvl="0" indent="-609585" algn="l" defTabSz="609585" rtl="0" eaLnBrk="1" fontAlgn="auto" latinLnBrk="0" hangingPunct="1">
              <a:lnSpc>
                <a:spcPct val="100000"/>
              </a:lnSpc>
              <a:spcBef>
                <a:spcPct val="20000"/>
              </a:spcBef>
              <a:spcAft>
                <a:spcPts val="0"/>
              </a:spcAft>
              <a:buClrTx/>
              <a:buSzTx/>
              <a:buFont typeface="Arial" charset="0"/>
              <a:buNone/>
              <a:tabLst/>
              <a:defRPr/>
            </a:pPr>
            <a:endParaRPr kumimoji="1" lang="ja-JP" altLang="en-US" dirty="0"/>
          </a:p>
        </p:txBody>
      </p:sp>
      <p:sp>
        <p:nvSpPr>
          <p:cNvPr id="6" name="スライド番号プレースホルダー 5"/>
          <p:cNvSpPr>
            <a:spLocks noGrp="1"/>
          </p:cNvSpPr>
          <p:nvPr userDrawn="1">
            <p:ph type="sldNum" sz="quarter" idx="12"/>
          </p:nvPr>
        </p:nvSpPr>
        <p:spPr>
          <a:xfrm>
            <a:off x="11322540" y="6557216"/>
            <a:ext cx="693976" cy="234773"/>
          </a:xfrm>
        </p:spPr>
        <p:txBody>
          <a:bodyPr/>
          <a:lstStyle>
            <a:lvl1pPr>
              <a:defRPr baseline="0">
                <a:solidFill>
                  <a:srgbClr val="465A64"/>
                </a:solidFill>
                <a:latin typeface="+mn-lt"/>
              </a:defRPr>
            </a:lvl1pPr>
          </a:lstStyle>
          <a:p>
            <a:fld id="{D6152712-CC26-414E-BBBB-4CE9F9112463}" type="slidenum">
              <a:rPr lang="ja-JP" altLang="en-US" smtClean="0"/>
              <a:pPr/>
              <a:t>‹N°›</a:t>
            </a:fld>
            <a:endParaRPr lang="ja-JP" altLang="en-US" dirty="0"/>
          </a:p>
        </p:txBody>
      </p:sp>
      <p:sp>
        <p:nvSpPr>
          <p:cNvPr id="4" name="テキスト ボックス 3"/>
          <p:cNvSpPr txBox="1"/>
          <p:nvPr userDrawn="1"/>
        </p:nvSpPr>
        <p:spPr>
          <a:xfrm>
            <a:off x="11709657" y="8035637"/>
            <a:ext cx="184731" cy="461665"/>
          </a:xfrm>
          <a:prstGeom prst="rect">
            <a:avLst/>
          </a:prstGeom>
          <a:noFill/>
        </p:spPr>
        <p:txBody>
          <a:bodyPr wrap="none" rtlCol="0">
            <a:spAutoFit/>
          </a:bodyPr>
          <a:lstStyle/>
          <a:p>
            <a:endParaRPr kumimoji="1" lang="ja-JP" altLang="en-US" sz="2400" dirty="0"/>
          </a:p>
        </p:txBody>
      </p:sp>
      <p:sp>
        <p:nvSpPr>
          <p:cNvPr id="10" name="テキスト ボックス 9"/>
          <p:cNvSpPr txBox="1"/>
          <p:nvPr userDrawn="1"/>
        </p:nvSpPr>
        <p:spPr>
          <a:xfrm>
            <a:off x="10067637" y="7799597"/>
            <a:ext cx="184731" cy="461665"/>
          </a:xfrm>
          <a:prstGeom prst="rect">
            <a:avLst/>
          </a:prstGeom>
          <a:noFill/>
        </p:spPr>
        <p:txBody>
          <a:bodyPr wrap="none" rtlCol="0">
            <a:spAutoFit/>
          </a:bodyPr>
          <a:lstStyle/>
          <a:p>
            <a:endParaRPr kumimoji="1" lang="ja-JP" altLang="en-US" sz="2400" dirty="0"/>
          </a:p>
        </p:txBody>
      </p:sp>
      <p:cxnSp>
        <p:nvCxnSpPr>
          <p:cNvPr id="11" name="直線コネクタ 10"/>
          <p:cNvCxnSpPr/>
          <p:nvPr userDrawn="1"/>
        </p:nvCxnSpPr>
        <p:spPr>
          <a:xfrm>
            <a:off x="175485" y="6542489"/>
            <a:ext cx="11845364" cy="0"/>
          </a:xfrm>
          <a:prstGeom prst="line">
            <a:avLst/>
          </a:prstGeom>
          <a:ln w="19050">
            <a:solidFill>
              <a:schemeClr val="accent5"/>
            </a:solidFill>
            <a:miter lim="800000"/>
          </a:ln>
          <a:effectLst/>
        </p:spPr>
        <p:style>
          <a:lnRef idx="2">
            <a:schemeClr val="accent1"/>
          </a:lnRef>
          <a:fillRef idx="0">
            <a:schemeClr val="accent1"/>
          </a:fillRef>
          <a:effectRef idx="1">
            <a:schemeClr val="accent1"/>
          </a:effectRef>
          <a:fontRef idx="minor">
            <a:schemeClr val="tx1"/>
          </a:fontRef>
        </p:style>
      </p:cxnSp>
      <p:pic>
        <p:nvPicPr>
          <p:cNvPr id="8" name="図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24548" y="343089"/>
            <a:ext cx="1209203" cy="447691"/>
          </a:xfrm>
          <a:prstGeom prst="rect">
            <a:avLst/>
          </a:prstGeom>
        </p:spPr>
      </p:pic>
      <p:sp>
        <p:nvSpPr>
          <p:cNvPr id="15" name="Espace réservé du texte 12">
            <a:extLst>
              <a:ext uri="{FF2B5EF4-FFF2-40B4-BE49-F238E27FC236}">
                <a16:creationId xmlns:a16="http://schemas.microsoft.com/office/drawing/2014/main" id="{52AFD01B-51CA-4FBF-BCFD-A5CD25761CAE}"/>
              </a:ext>
            </a:extLst>
          </p:cNvPr>
          <p:cNvSpPr>
            <a:spLocks noGrp="1"/>
          </p:cNvSpPr>
          <p:nvPr>
            <p:ph type="body" sz="quarter" idx="14"/>
          </p:nvPr>
        </p:nvSpPr>
        <p:spPr>
          <a:xfrm>
            <a:off x="172801" y="6544693"/>
            <a:ext cx="2631017" cy="305505"/>
          </a:xfrm>
        </p:spPr>
        <p:txBody>
          <a:bodyPr anchor="ctr">
            <a:noAutofit/>
          </a:bodyPr>
          <a:lstStyle>
            <a:lvl1pPr marL="0" indent="0" algn="l">
              <a:buNone/>
              <a:defRPr sz="1333">
                <a:solidFill>
                  <a:srgbClr val="465A64"/>
                </a:solidFill>
              </a:defRPr>
            </a:lvl1pPr>
            <a:lvl2pPr algn="ctr">
              <a:defRPr sz="1333">
                <a:solidFill>
                  <a:srgbClr val="324650"/>
                </a:solidFill>
              </a:defRPr>
            </a:lvl2pPr>
            <a:lvl3pPr algn="ctr">
              <a:defRPr sz="1333">
                <a:solidFill>
                  <a:srgbClr val="324650"/>
                </a:solidFill>
              </a:defRPr>
            </a:lvl3pPr>
            <a:lvl4pPr algn="ctr">
              <a:defRPr sz="1333">
                <a:solidFill>
                  <a:srgbClr val="324650"/>
                </a:solidFill>
              </a:defRPr>
            </a:lvl4pPr>
            <a:lvl5pPr algn="ctr">
              <a:defRPr sz="1333">
                <a:solidFill>
                  <a:srgbClr val="324650"/>
                </a:solidFill>
              </a:defRPr>
            </a:lvl5pPr>
          </a:lstStyle>
          <a:p>
            <a:endParaRPr lang="fr-BE" sz="1333" dirty="0">
              <a:solidFill>
                <a:srgbClr val="445C63"/>
              </a:solidFill>
            </a:endParaRPr>
          </a:p>
        </p:txBody>
      </p:sp>
    </p:spTree>
    <p:extLst>
      <p:ext uri="{BB962C8B-B14F-4D97-AF65-F5344CB8AC3E}">
        <p14:creationId xmlns:p14="http://schemas.microsoft.com/office/powerpoint/2010/main" val="34175475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page - Blue">
    <p:spTree>
      <p:nvGrpSpPr>
        <p:cNvPr id="1" name=""/>
        <p:cNvGrpSpPr/>
        <p:nvPr/>
      </p:nvGrpSpPr>
      <p:grpSpPr>
        <a:xfrm>
          <a:off x="0" y="0"/>
          <a:ext cx="0" cy="0"/>
          <a:chOff x="0" y="0"/>
          <a:chExt cx="0" cy="0"/>
        </a:xfrm>
      </p:grpSpPr>
      <p:sp>
        <p:nvSpPr>
          <p:cNvPr id="37" name="フリーフォーム 36"/>
          <p:cNvSpPr/>
          <p:nvPr userDrawn="1"/>
        </p:nvSpPr>
        <p:spPr>
          <a:xfrm>
            <a:off x="175485" y="160555"/>
            <a:ext cx="11845364" cy="5940612"/>
          </a:xfrm>
          <a:custGeom>
            <a:avLst/>
            <a:gdLst>
              <a:gd name="connsiteX0" fmla="*/ 8884023 w 8884023"/>
              <a:gd name="connsiteY0" fmla="*/ 3675529 h 4455459"/>
              <a:gd name="connsiteX1" fmla="*/ 8884023 w 8884023"/>
              <a:gd name="connsiteY1" fmla="*/ 0 h 4455459"/>
              <a:gd name="connsiteX2" fmla="*/ 0 w 8884023"/>
              <a:gd name="connsiteY2" fmla="*/ 0 h 4455459"/>
              <a:gd name="connsiteX3" fmla="*/ 0 w 8884023"/>
              <a:gd name="connsiteY3" fmla="*/ 4455459 h 4455459"/>
              <a:gd name="connsiteX4" fmla="*/ 8884023 w 8884023"/>
              <a:gd name="connsiteY4" fmla="*/ 3675529 h 4455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4023" h="4455459">
                <a:moveTo>
                  <a:pt x="8884023" y="3675529"/>
                </a:moveTo>
                <a:lnTo>
                  <a:pt x="8884023" y="0"/>
                </a:lnTo>
                <a:lnTo>
                  <a:pt x="0" y="0"/>
                </a:lnTo>
                <a:lnTo>
                  <a:pt x="0" y="4455459"/>
                </a:lnTo>
                <a:lnTo>
                  <a:pt x="8884023" y="3675529"/>
                </a:lnTo>
                <a:close/>
              </a:path>
            </a:pathLst>
          </a:custGeom>
          <a:solidFill>
            <a:srgbClr val="001F6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85"/>
            <a:endParaRPr kumimoji="1" lang="ja-JP" altLang="en-US" sz="2400">
              <a:solidFill>
                <a:srgbClr val="FFFFFF"/>
              </a:solidFill>
            </a:endParaRPr>
          </a:p>
        </p:txBody>
      </p:sp>
      <p:sp>
        <p:nvSpPr>
          <p:cNvPr id="2" name="タイトル 1"/>
          <p:cNvSpPr>
            <a:spLocks noGrp="1"/>
          </p:cNvSpPr>
          <p:nvPr>
            <p:ph type="ctrTitle" hasCustomPrompt="1"/>
          </p:nvPr>
        </p:nvSpPr>
        <p:spPr bwMode="white">
          <a:xfrm>
            <a:off x="609601" y="1391424"/>
            <a:ext cx="8800713" cy="2017184"/>
          </a:xfrm>
        </p:spPr>
        <p:txBody>
          <a:bodyPr>
            <a:normAutofit/>
          </a:bodyPr>
          <a:lstStyle>
            <a:lvl1pPr>
              <a:defRPr sz="5333" b="1" i="0" baseline="0">
                <a:latin typeface="+mn-lt"/>
                <a:ea typeface="Meiryo" charset="-128"/>
                <a:cs typeface="Meiryo" charset="-128"/>
              </a:defRPr>
            </a:lvl1pPr>
          </a:lstStyle>
          <a:p>
            <a:r>
              <a:rPr kumimoji="1" lang="en-US" altLang="ja-JP"/>
              <a:t>Title</a:t>
            </a:r>
            <a:endParaRPr kumimoji="1" lang="ja-JP" altLang="en-US"/>
          </a:p>
        </p:txBody>
      </p:sp>
      <p:sp>
        <p:nvSpPr>
          <p:cNvPr id="3" name="サブタイトル 2"/>
          <p:cNvSpPr>
            <a:spLocks noGrp="1"/>
          </p:cNvSpPr>
          <p:nvPr>
            <p:ph type="subTitle" idx="1" hasCustomPrompt="1"/>
          </p:nvPr>
        </p:nvSpPr>
        <p:spPr bwMode="white">
          <a:xfrm>
            <a:off x="609601" y="3514325"/>
            <a:ext cx="8800713" cy="648015"/>
          </a:xfrm>
        </p:spPr>
        <p:txBody>
          <a:bodyPr>
            <a:noAutofit/>
          </a:bodyPr>
          <a:lstStyle>
            <a:lvl1pPr marL="0" indent="0" algn="l">
              <a:buNone/>
              <a:defRPr sz="3200" b="0" i="0" baseline="0">
                <a:solidFill>
                  <a:schemeClr val="bg1"/>
                </a:solidFill>
                <a:latin typeface="+mn-lt"/>
                <a:ea typeface="Meiryo" charset="-128"/>
                <a:cs typeface="Meiryo" charset="-128"/>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ltLang="ja-JP"/>
              <a:t>Subtitle</a:t>
            </a:r>
          </a:p>
        </p:txBody>
      </p:sp>
      <p:pic>
        <p:nvPicPr>
          <p:cNvPr id="34" name="図 3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41749" y="6089566"/>
            <a:ext cx="4775200" cy="527181"/>
          </a:xfrm>
          <a:prstGeom prst="rect">
            <a:avLst/>
          </a:prstGeom>
        </p:spPr>
      </p:pic>
      <p:pic>
        <p:nvPicPr>
          <p:cNvPr id="5" name="図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539320" y="1660305"/>
            <a:ext cx="1489131" cy="1489131"/>
          </a:xfrm>
          <a:prstGeom prst="rect">
            <a:avLst/>
          </a:prstGeom>
        </p:spPr>
      </p:pic>
    </p:spTree>
    <p:extLst>
      <p:ext uri="{BB962C8B-B14F-4D97-AF65-F5344CB8AC3E}">
        <p14:creationId xmlns:p14="http://schemas.microsoft.com/office/powerpoint/2010/main" val="341071305"/>
      </p:ext>
    </p:extLst>
  </p:cSld>
  <p:clrMapOvr>
    <a:masterClrMapping/>
  </p:clrMapOvr>
  <p:extLst>
    <p:ext uri="{DCECCB84-F9BA-43D5-87BE-67443E8EF086}">
      <p15:sldGuideLst xmlns:p15="http://schemas.microsoft.com/office/powerpoint/2012/main">
        <p15:guide id="1" orient="horz" pos="3049">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D7BAE72-B06B-B3AC-3CB8-7996DD8215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A"/>
          </a:p>
        </p:txBody>
      </p:sp>
      <p:sp>
        <p:nvSpPr>
          <p:cNvPr id="3" name="Espace réservé du texte 2">
            <a:extLst>
              <a:ext uri="{FF2B5EF4-FFF2-40B4-BE49-F238E27FC236}">
                <a16:creationId xmlns:a16="http://schemas.microsoft.com/office/drawing/2014/main" id="{604BD7EB-A0A0-941D-50C6-9B6A488370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4" name="Espace réservé de la date 3">
            <a:extLst>
              <a:ext uri="{FF2B5EF4-FFF2-40B4-BE49-F238E27FC236}">
                <a16:creationId xmlns:a16="http://schemas.microsoft.com/office/drawing/2014/main" id="{86D5837C-85E8-3474-5EF3-82B0E3859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5C4800-B95D-4CA0-A6B6-BF1671CB08C6}" type="datetimeFigureOut">
              <a:rPr lang="fr-MA" smtClean="0"/>
              <a:t>28/07/2025</a:t>
            </a:fld>
            <a:endParaRPr lang="fr-MA"/>
          </a:p>
        </p:txBody>
      </p:sp>
      <p:sp>
        <p:nvSpPr>
          <p:cNvPr id="5" name="Espace réservé du pied de page 4">
            <a:extLst>
              <a:ext uri="{FF2B5EF4-FFF2-40B4-BE49-F238E27FC236}">
                <a16:creationId xmlns:a16="http://schemas.microsoft.com/office/drawing/2014/main" id="{9C14B790-DA2F-15C1-6ED3-BF4B68C1C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MA"/>
          </a:p>
        </p:txBody>
      </p:sp>
      <p:sp>
        <p:nvSpPr>
          <p:cNvPr id="6" name="Espace réservé du numéro de diapositive 5">
            <a:extLst>
              <a:ext uri="{FF2B5EF4-FFF2-40B4-BE49-F238E27FC236}">
                <a16:creationId xmlns:a16="http://schemas.microsoft.com/office/drawing/2014/main" id="{1F04769C-08CC-3752-064C-43DCE64CC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982A3D-8BF2-45DC-8AC7-923DDD6D3B35}" type="slidenum">
              <a:rPr lang="fr-MA" smtClean="0"/>
              <a:t>‹N°›</a:t>
            </a:fld>
            <a:endParaRPr lang="fr-MA"/>
          </a:p>
        </p:txBody>
      </p:sp>
      <p:sp>
        <p:nvSpPr>
          <p:cNvPr id="8" name="ZoneTexte 7">
            <a:extLst>
              <a:ext uri="{FF2B5EF4-FFF2-40B4-BE49-F238E27FC236}">
                <a16:creationId xmlns:a16="http://schemas.microsoft.com/office/drawing/2014/main" id="{B2C6269E-92F0-B4BB-5FB9-F82223F10B4F}"/>
              </a:ext>
            </a:extLst>
          </p:cNvPr>
          <p:cNvSpPr txBox="1"/>
          <p:nvPr userDrawn="1">
            <p:extLst>
              <p:ext uri="{1162E1C5-73C7-4A58-AE30-91384D911F3F}">
                <p184:classification xmlns:p184="http://schemas.microsoft.com/office/powerpoint/2018/4/main" val="ftr"/>
              </p:ext>
            </p:extLst>
          </p:nvPr>
        </p:nvSpPr>
        <p:spPr>
          <a:xfrm>
            <a:off x="5334762" y="6642100"/>
            <a:ext cx="15795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 AGC Group Internal Use Only </a:t>
            </a:r>
          </a:p>
        </p:txBody>
      </p:sp>
    </p:spTree>
    <p:extLst>
      <p:ext uri="{BB962C8B-B14F-4D97-AF65-F5344CB8AC3E}">
        <p14:creationId xmlns:p14="http://schemas.microsoft.com/office/powerpoint/2010/main" val="1555316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12419-D5AE-4577-A0F4-A09E5A0FFB1B}"/>
              </a:ext>
            </a:extLst>
          </p:cNvPr>
          <p:cNvSpPr>
            <a:spLocks noGrp="1"/>
          </p:cNvSpPr>
          <p:nvPr>
            <p:ph type="ctrTitle"/>
          </p:nvPr>
        </p:nvSpPr>
        <p:spPr/>
        <p:txBody>
          <a:bodyPr>
            <a:normAutofit/>
          </a:bodyPr>
          <a:lstStyle/>
          <a:p>
            <a:r>
              <a:rPr lang="en-US" sz="5300" dirty="0">
                <a:solidFill>
                  <a:schemeClr val="bg1"/>
                </a:solidFill>
              </a:rPr>
              <a:t>ALS Furnace Sequence Passport</a:t>
            </a:r>
          </a:p>
        </p:txBody>
      </p:sp>
      <p:sp>
        <p:nvSpPr>
          <p:cNvPr id="3" name="Sous-titre 2">
            <a:extLst>
              <a:ext uri="{FF2B5EF4-FFF2-40B4-BE49-F238E27FC236}">
                <a16:creationId xmlns:a16="http://schemas.microsoft.com/office/drawing/2014/main" id="{911310CA-B572-4F86-928C-BAC0F2DF8920}"/>
              </a:ext>
            </a:extLst>
          </p:cNvPr>
          <p:cNvSpPr>
            <a:spLocks noGrp="1"/>
          </p:cNvSpPr>
          <p:nvPr>
            <p:ph type="subTitle" idx="1"/>
          </p:nvPr>
        </p:nvSpPr>
        <p:spPr>
          <a:xfrm>
            <a:off x="609601" y="3514325"/>
            <a:ext cx="10163033" cy="648015"/>
          </a:xfrm>
        </p:spPr>
        <p:txBody>
          <a:bodyPr vert="horz" lIns="91440" tIns="45720" rIns="91440" bIns="45720" rtlCol="0" anchor="t">
            <a:noAutofit/>
          </a:bodyPr>
          <a:lstStyle/>
          <a:p>
            <a:r>
              <a:rPr lang="fr-BE" dirty="0" err="1"/>
              <a:t>Automated</a:t>
            </a:r>
            <a:r>
              <a:rPr lang="fr-BE" dirty="0"/>
              <a:t> </a:t>
            </a:r>
            <a:r>
              <a:rPr lang="fr-BE" dirty="0" err="1"/>
              <a:t>Anomaly</a:t>
            </a:r>
            <a:r>
              <a:rPr lang="fr-BE" dirty="0"/>
              <a:t> </a:t>
            </a:r>
            <a:r>
              <a:rPr lang="fr-BE" dirty="0" err="1"/>
              <a:t>Detection</a:t>
            </a:r>
            <a:endParaRPr lang="fr-BE" dirty="0"/>
          </a:p>
        </p:txBody>
      </p:sp>
      <p:sp>
        <p:nvSpPr>
          <p:cNvPr id="4" name="Sous-titre 2">
            <a:extLst>
              <a:ext uri="{FF2B5EF4-FFF2-40B4-BE49-F238E27FC236}">
                <a16:creationId xmlns:a16="http://schemas.microsoft.com/office/drawing/2014/main" id="{911310CA-B572-4F86-928C-BAC0F2DF8920}"/>
              </a:ext>
            </a:extLst>
          </p:cNvPr>
          <p:cNvSpPr txBox="1">
            <a:spLocks/>
          </p:cNvSpPr>
          <p:nvPr/>
        </p:nvSpPr>
        <p:spPr bwMode="white">
          <a:xfrm>
            <a:off x="643891" y="4365090"/>
            <a:ext cx="8626674" cy="648015"/>
          </a:xfrm>
          <a:prstGeom prst="rect">
            <a:avLst/>
          </a:prstGeom>
        </p:spPr>
        <p:txBody>
          <a:bodyPr vert="horz" lIns="91440" tIns="45720" rIns="91440" bIns="45720" rtlCol="0" anchor="t">
            <a:noAutofit/>
          </a:bodyPr>
          <a:lstStyle>
            <a:lvl1pPr marL="0" indent="0" algn="l" defTabSz="609585" rtl="0" eaLnBrk="1" latinLnBrk="0" hangingPunct="1">
              <a:spcBef>
                <a:spcPct val="20000"/>
              </a:spcBef>
              <a:buClr>
                <a:srgbClr val="465A64"/>
              </a:buClr>
              <a:buFont typeface="Arial" charset="0"/>
              <a:buNone/>
              <a:defRPr kumimoji="1" sz="3200" b="0" i="0" kern="1200" baseline="0">
                <a:solidFill>
                  <a:schemeClr val="bg1"/>
                </a:solidFill>
                <a:latin typeface="+mn-lt"/>
                <a:ea typeface="Meiryo" charset="-128"/>
                <a:cs typeface="Meiryo" charset="-128"/>
              </a:defRPr>
            </a:lvl1pPr>
            <a:lvl2pPr marL="609585" indent="0" algn="ctr" defTabSz="609585" rtl="0" eaLnBrk="1" latinLnBrk="0" hangingPunct="1">
              <a:spcBef>
                <a:spcPct val="20000"/>
              </a:spcBef>
              <a:buClr>
                <a:srgbClr val="465A64"/>
              </a:buClr>
              <a:buFont typeface="Arial" charset="0"/>
              <a:buNone/>
              <a:defRPr kumimoji="1" sz="2667" b="0" i="0" kern="1200" baseline="0">
                <a:solidFill>
                  <a:schemeClr val="tx1">
                    <a:tint val="75000"/>
                  </a:schemeClr>
                </a:solidFill>
                <a:latin typeface="+mn-lt"/>
                <a:ea typeface="Meiryo" charset="-128"/>
                <a:cs typeface="Meiryo" charset="-128"/>
              </a:defRPr>
            </a:lvl2pPr>
            <a:lvl3pPr marL="1219170" indent="0" algn="ctr" defTabSz="609585" rtl="0" eaLnBrk="1" latinLnBrk="0" hangingPunct="1">
              <a:spcBef>
                <a:spcPct val="20000"/>
              </a:spcBef>
              <a:buClr>
                <a:srgbClr val="465A64"/>
              </a:buClr>
              <a:buFont typeface="Arial" charset="0"/>
              <a:buNone/>
              <a:defRPr kumimoji="1" sz="2400" b="0" i="0" kern="1200" baseline="0">
                <a:solidFill>
                  <a:schemeClr val="tx1">
                    <a:tint val="75000"/>
                  </a:schemeClr>
                </a:solidFill>
                <a:latin typeface="+mn-lt"/>
                <a:ea typeface="Meiryo" charset="-128"/>
                <a:cs typeface="Meiryo" charset="-128"/>
              </a:defRPr>
            </a:lvl3pPr>
            <a:lvl4pPr marL="1828754" indent="0" algn="ctr" defTabSz="609585" rtl="0" eaLnBrk="1" latinLnBrk="0" hangingPunct="1">
              <a:spcBef>
                <a:spcPct val="20000"/>
              </a:spcBef>
              <a:buClr>
                <a:srgbClr val="465A64"/>
              </a:buClr>
              <a:buFont typeface="Arial" charset="0"/>
              <a:buNone/>
              <a:defRPr kumimoji="1" sz="2133" b="0" i="0" kern="1200" baseline="0">
                <a:solidFill>
                  <a:schemeClr val="tx1">
                    <a:tint val="75000"/>
                  </a:schemeClr>
                </a:solidFill>
                <a:latin typeface="+mn-lt"/>
                <a:ea typeface="Meiryo" charset="-128"/>
                <a:cs typeface="Meiryo" charset="-128"/>
              </a:defRPr>
            </a:lvl4pPr>
            <a:lvl5pPr marL="2438339" indent="0" algn="ctr" defTabSz="609585" rtl="0" eaLnBrk="1" latinLnBrk="0" hangingPunct="1">
              <a:spcBef>
                <a:spcPct val="20000"/>
              </a:spcBef>
              <a:buClr>
                <a:srgbClr val="465A64"/>
              </a:buClr>
              <a:buFont typeface="Arial" charset="0"/>
              <a:buNone/>
              <a:defRPr kumimoji="1" sz="1867" b="0" i="0" kern="1200" baseline="0">
                <a:solidFill>
                  <a:schemeClr val="tx1">
                    <a:tint val="75000"/>
                  </a:schemeClr>
                </a:solidFill>
                <a:latin typeface="+mn-lt"/>
                <a:ea typeface="Meiryo" charset="-128"/>
                <a:cs typeface="Meiryo" charset="-128"/>
              </a:defRPr>
            </a:lvl5pPr>
            <a:lvl6pPr marL="3047924"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6pPr>
            <a:lvl7pPr marL="3657509"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7pPr>
            <a:lvl8pPr marL="4267093"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8pPr>
            <a:lvl9pPr marL="4876678"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9pPr>
          </a:lstStyle>
          <a:p>
            <a:r>
              <a:rPr lang="fr-BE" sz="1800" dirty="0">
                <a:ea typeface="Meiryo"/>
              </a:rPr>
              <a:t>Ayoub </a:t>
            </a:r>
            <a:r>
              <a:rPr lang="fr-BE" sz="1800" dirty="0" err="1">
                <a:ea typeface="Meiryo"/>
              </a:rPr>
              <a:t>Bellouch</a:t>
            </a:r>
            <a:endParaRPr lang="fr-BE" sz="1800" dirty="0">
              <a:ea typeface="Meiryo"/>
            </a:endParaRPr>
          </a:p>
          <a:p>
            <a:r>
              <a:rPr lang="fr-BE" sz="1800" dirty="0">
                <a:ea typeface="Meiryo"/>
              </a:rPr>
              <a:t>Mohamed Yassine EL IDRISSI</a:t>
            </a:r>
            <a:endParaRPr lang="de-DE" sz="1800" dirty="0"/>
          </a:p>
        </p:txBody>
      </p:sp>
      <p:sp>
        <p:nvSpPr>
          <p:cNvPr id="5" name="Sous-titre 2">
            <a:extLst>
              <a:ext uri="{FF2B5EF4-FFF2-40B4-BE49-F238E27FC236}">
                <a16:creationId xmlns:a16="http://schemas.microsoft.com/office/drawing/2014/main" id="{911310CA-B572-4F86-928C-BAC0F2DF8920}"/>
              </a:ext>
            </a:extLst>
          </p:cNvPr>
          <p:cNvSpPr txBox="1">
            <a:spLocks/>
          </p:cNvSpPr>
          <p:nvPr/>
        </p:nvSpPr>
        <p:spPr bwMode="white">
          <a:xfrm>
            <a:off x="643891" y="5118822"/>
            <a:ext cx="8626674" cy="411479"/>
          </a:xfrm>
          <a:prstGeom prst="rect">
            <a:avLst/>
          </a:prstGeom>
        </p:spPr>
        <p:txBody>
          <a:bodyPr vert="horz" lIns="91440" tIns="45720" rIns="91440" bIns="45720" rtlCol="0" anchor="t">
            <a:noAutofit/>
          </a:bodyPr>
          <a:lstStyle>
            <a:lvl1pPr marL="0" indent="0" algn="l" defTabSz="609585" rtl="0" eaLnBrk="1" latinLnBrk="0" hangingPunct="1">
              <a:spcBef>
                <a:spcPct val="20000"/>
              </a:spcBef>
              <a:buClr>
                <a:srgbClr val="465A64"/>
              </a:buClr>
              <a:buFont typeface="Arial" charset="0"/>
              <a:buNone/>
              <a:defRPr kumimoji="1" sz="3200" b="0" i="0" kern="1200" baseline="0">
                <a:solidFill>
                  <a:schemeClr val="bg1"/>
                </a:solidFill>
                <a:latin typeface="+mn-lt"/>
                <a:ea typeface="Meiryo" charset="-128"/>
                <a:cs typeface="Meiryo" charset="-128"/>
              </a:defRPr>
            </a:lvl1pPr>
            <a:lvl2pPr marL="609585" indent="0" algn="ctr" defTabSz="609585" rtl="0" eaLnBrk="1" latinLnBrk="0" hangingPunct="1">
              <a:spcBef>
                <a:spcPct val="20000"/>
              </a:spcBef>
              <a:buClr>
                <a:srgbClr val="465A64"/>
              </a:buClr>
              <a:buFont typeface="Arial" charset="0"/>
              <a:buNone/>
              <a:defRPr kumimoji="1" sz="2667" b="0" i="0" kern="1200" baseline="0">
                <a:solidFill>
                  <a:schemeClr val="tx1">
                    <a:tint val="75000"/>
                  </a:schemeClr>
                </a:solidFill>
                <a:latin typeface="+mn-lt"/>
                <a:ea typeface="Meiryo" charset="-128"/>
                <a:cs typeface="Meiryo" charset="-128"/>
              </a:defRPr>
            </a:lvl2pPr>
            <a:lvl3pPr marL="1219170" indent="0" algn="ctr" defTabSz="609585" rtl="0" eaLnBrk="1" latinLnBrk="0" hangingPunct="1">
              <a:spcBef>
                <a:spcPct val="20000"/>
              </a:spcBef>
              <a:buClr>
                <a:srgbClr val="465A64"/>
              </a:buClr>
              <a:buFont typeface="Arial" charset="0"/>
              <a:buNone/>
              <a:defRPr kumimoji="1" sz="2400" b="0" i="0" kern="1200" baseline="0">
                <a:solidFill>
                  <a:schemeClr val="tx1">
                    <a:tint val="75000"/>
                  </a:schemeClr>
                </a:solidFill>
                <a:latin typeface="+mn-lt"/>
                <a:ea typeface="Meiryo" charset="-128"/>
                <a:cs typeface="Meiryo" charset="-128"/>
              </a:defRPr>
            </a:lvl3pPr>
            <a:lvl4pPr marL="1828754" indent="0" algn="ctr" defTabSz="609585" rtl="0" eaLnBrk="1" latinLnBrk="0" hangingPunct="1">
              <a:spcBef>
                <a:spcPct val="20000"/>
              </a:spcBef>
              <a:buClr>
                <a:srgbClr val="465A64"/>
              </a:buClr>
              <a:buFont typeface="Arial" charset="0"/>
              <a:buNone/>
              <a:defRPr kumimoji="1" sz="2133" b="0" i="0" kern="1200" baseline="0">
                <a:solidFill>
                  <a:schemeClr val="tx1">
                    <a:tint val="75000"/>
                  </a:schemeClr>
                </a:solidFill>
                <a:latin typeface="+mn-lt"/>
                <a:ea typeface="Meiryo" charset="-128"/>
                <a:cs typeface="Meiryo" charset="-128"/>
              </a:defRPr>
            </a:lvl4pPr>
            <a:lvl5pPr marL="2438339" indent="0" algn="ctr" defTabSz="609585" rtl="0" eaLnBrk="1" latinLnBrk="0" hangingPunct="1">
              <a:spcBef>
                <a:spcPct val="20000"/>
              </a:spcBef>
              <a:buClr>
                <a:srgbClr val="465A64"/>
              </a:buClr>
              <a:buFont typeface="Arial" charset="0"/>
              <a:buNone/>
              <a:defRPr kumimoji="1" sz="1867" b="0" i="0" kern="1200" baseline="0">
                <a:solidFill>
                  <a:schemeClr val="tx1">
                    <a:tint val="75000"/>
                  </a:schemeClr>
                </a:solidFill>
                <a:latin typeface="+mn-lt"/>
                <a:ea typeface="Meiryo" charset="-128"/>
                <a:cs typeface="Meiryo" charset="-128"/>
              </a:defRPr>
            </a:lvl5pPr>
            <a:lvl6pPr marL="3047924"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6pPr>
            <a:lvl7pPr marL="3657509"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7pPr>
            <a:lvl8pPr marL="4267093"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8pPr>
            <a:lvl9pPr marL="4876678" indent="0" algn="ctr" defTabSz="609585" rtl="0" eaLnBrk="1" latinLnBrk="0" hangingPunct="1">
              <a:spcBef>
                <a:spcPct val="20000"/>
              </a:spcBef>
              <a:buFont typeface="Arial"/>
              <a:buNone/>
              <a:defRPr kumimoji="1" sz="2667" kern="1200">
                <a:solidFill>
                  <a:schemeClr val="tx1">
                    <a:tint val="75000"/>
                  </a:schemeClr>
                </a:solidFill>
                <a:latin typeface="+mn-lt"/>
                <a:ea typeface="+mn-ea"/>
                <a:cs typeface="+mn-cs"/>
              </a:defRPr>
            </a:lvl9pPr>
          </a:lstStyle>
          <a:p>
            <a:r>
              <a:rPr lang="fr-BE" sz="1800" dirty="0">
                <a:ea typeface="Meiryo"/>
              </a:rPr>
              <a:t>09/07/2025</a:t>
            </a:r>
            <a:endParaRPr lang="de-DE" sz="1800" dirty="0"/>
          </a:p>
        </p:txBody>
      </p:sp>
    </p:spTree>
    <p:extLst>
      <p:ext uri="{BB962C8B-B14F-4D97-AF65-F5344CB8AC3E}">
        <p14:creationId xmlns:p14="http://schemas.microsoft.com/office/powerpoint/2010/main" val="280606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e 4">
            <a:extLst>
              <a:ext uri="{FF2B5EF4-FFF2-40B4-BE49-F238E27FC236}">
                <a16:creationId xmlns:a16="http://schemas.microsoft.com/office/drawing/2014/main" id="{1120E9D2-F461-D501-7614-055CE29A113A}"/>
              </a:ext>
            </a:extLst>
          </p:cNvPr>
          <p:cNvGrpSpPr/>
          <p:nvPr/>
        </p:nvGrpSpPr>
        <p:grpSpPr>
          <a:xfrm>
            <a:off x="170730" y="1036375"/>
            <a:ext cx="11834142" cy="5514122"/>
            <a:chOff x="128359" y="758092"/>
            <a:chExt cx="8887904" cy="3786553"/>
          </a:xfrm>
        </p:grpSpPr>
        <p:sp>
          <p:nvSpPr>
            <p:cNvPr id="23" name="Rectangle 22">
              <a:extLst>
                <a:ext uri="{FF2B5EF4-FFF2-40B4-BE49-F238E27FC236}">
                  <a16:creationId xmlns:a16="http://schemas.microsoft.com/office/drawing/2014/main" id="{2E6ADC0E-F749-0049-DEA6-8B38C1831573}"/>
                </a:ext>
              </a:extLst>
            </p:cNvPr>
            <p:cNvSpPr/>
            <p:nvPr/>
          </p:nvSpPr>
          <p:spPr>
            <a:xfrm>
              <a:off x="132862" y="758092"/>
              <a:ext cx="3618523" cy="257908"/>
            </a:xfrm>
            <a:prstGeom prst="rect">
              <a:avLst/>
            </a:prstGeom>
            <a:solidFill>
              <a:srgbClr val="001F6B"/>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Epic Description</a:t>
              </a:r>
            </a:p>
          </p:txBody>
        </p:sp>
        <p:sp>
          <p:nvSpPr>
            <p:cNvPr id="24" name="Rectangle 23">
              <a:extLst>
                <a:ext uri="{FF2B5EF4-FFF2-40B4-BE49-F238E27FC236}">
                  <a16:creationId xmlns:a16="http://schemas.microsoft.com/office/drawing/2014/main" id="{1C33F4C7-4A55-3416-83B4-8E4D823DF799}"/>
                </a:ext>
              </a:extLst>
            </p:cNvPr>
            <p:cNvSpPr/>
            <p:nvPr/>
          </p:nvSpPr>
          <p:spPr>
            <a:xfrm>
              <a:off x="3817816" y="758092"/>
              <a:ext cx="5197820" cy="257908"/>
            </a:xfrm>
            <a:prstGeom prst="rect">
              <a:avLst/>
            </a:prstGeom>
            <a:solidFill>
              <a:srgbClr val="001F6B"/>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Epic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pictures</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(Visible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improvements</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a:t>
              </a:r>
            </a:p>
          </p:txBody>
        </p:sp>
        <p:sp>
          <p:nvSpPr>
            <p:cNvPr id="25" name="Rectangle 24">
              <a:extLst>
                <a:ext uri="{FF2B5EF4-FFF2-40B4-BE49-F238E27FC236}">
                  <a16:creationId xmlns:a16="http://schemas.microsoft.com/office/drawing/2014/main" id="{7F719319-D445-F2FD-41B1-963F8D68883B}"/>
                </a:ext>
              </a:extLst>
            </p:cNvPr>
            <p:cNvSpPr/>
            <p:nvPr/>
          </p:nvSpPr>
          <p:spPr>
            <a:xfrm>
              <a:off x="128359" y="1021424"/>
              <a:ext cx="3618523" cy="2224356"/>
            </a:xfrm>
            <a:prstGeom prst="rect">
              <a:avLst/>
            </a:prstGeom>
            <a:solidFill>
              <a:srgbClr val="FFFFFF">
                <a:lumMod val="95000"/>
              </a:srgbClr>
            </a:solidFill>
            <a:ln w="25400" cap="flat" cmpd="sng" algn="ctr">
              <a:noFill/>
              <a:prstDash val="solid"/>
            </a:ln>
            <a:effectLst/>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sz="700" b="1" i="0" u="none" strike="noStrike" kern="0" cap="none" spc="0" normalizeH="0" baseline="0" noProof="0" dirty="0">
                  <a:ln>
                    <a:noFill/>
                  </a:ln>
                  <a:solidFill>
                    <a:srgbClr val="001F6B"/>
                  </a:solidFill>
                  <a:effectLst/>
                  <a:uLnTx/>
                  <a:uFillTx/>
                  <a:ea typeface="+mn-ea"/>
                  <a:cs typeface="+mn-cs"/>
                </a:rPr>
                <a:t>Problem description : </a:t>
              </a:r>
            </a:p>
            <a:p>
              <a:pPr lvl="0" defTabSz="1219170">
                <a:defRPr/>
              </a:pPr>
              <a:r>
                <a:rPr lang="en-US" sz="700" dirty="0"/>
                <a:t>The ALS (Advanced Lamination System) Furnace is a critical component in the production line that shapes automotive glass through a sophisticated thermal process. With 2500 electrical resistances across 20 zones and 500 thermocouples for monitoring, this system processes glass through preheating, shaping, and cooling phases to create precisely formed windshields. As the production line's bottleneck, any furnace stoppage directly impacts </a:t>
              </a:r>
              <a:r>
                <a:rPr lang="en-US" sz="700" dirty="0">
                  <a:latin typeface="Arial" panose="020B0604020202020204" pitchFamily="34" charset="0"/>
                  <a:cs typeface="Arial" panose="020B0604020202020204" pitchFamily="34" charset="0"/>
                </a:rPr>
                <a:t>overall</a:t>
              </a:r>
              <a:r>
                <a:rPr lang="en-US" sz="700" dirty="0"/>
                <a:t> productivity. </a:t>
              </a:r>
            </a:p>
            <a:p>
              <a:pPr lvl="0" defTabSz="1219170">
                <a:defRPr/>
              </a:pPr>
              <a:r>
                <a:rPr lang="en-US" sz="700" dirty="0"/>
                <a:t>Currently, we face significant challenges in responding effectively to system failures, which affects our ability to maintain consistent production flow:</a:t>
              </a:r>
            </a:p>
            <a:p>
              <a:pPr lvl="0" eaLnBrk="0" fontAlgn="base" hangingPunct="0">
                <a:spcBef>
                  <a:spcPct val="0"/>
                </a:spcBef>
                <a:spcAft>
                  <a:spcPct val="0"/>
                </a:spcAft>
                <a:buFontTx/>
                <a:buChar char="•"/>
              </a:pPr>
              <a:r>
                <a:rPr lang="fr-FR" altLang="fr-FR" sz="700" dirty="0" err="1">
                  <a:latin typeface="Arial" panose="020B0604020202020204" pitchFamily="34" charset="0"/>
                </a:rPr>
                <a:t>Lack</a:t>
              </a:r>
              <a:r>
                <a:rPr lang="fr-FR" altLang="fr-FR" sz="700" dirty="0">
                  <a:latin typeface="Arial" panose="020B0604020202020204" pitchFamily="34" charset="0"/>
                </a:rPr>
                <a:t> of a </a:t>
              </a:r>
              <a:r>
                <a:rPr lang="fr-FR" altLang="fr-FR" sz="700" b="1" dirty="0" err="1">
                  <a:latin typeface="Arial" panose="020B0604020202020204" pitchFamily="34" charset="0"/>
                </a:rPr>
                <a:t>centralized</a:t>
              </a:r>
              <a:r>
                <a:rPr lang="fr-FR" altLang="fr-FR" sz="700" b="1" dirty="0">
                  <a:latin typeface="Arial" panose="020B0604020202020204" pitchFamily="34" charset="0"/>
                </a:rPr>
                <a:t> </a:t>
              </a:r>
              <a:r>
                <a:rPr lang="fr-FR" altLang="fr-FR" sz="700" b="1" dirty="0" err="1">
                  <a:latin typeface="Arial" panose="020B0604020202020204" pitchFamily="34" charset="0"/>
                </a:rPr>
                <a:t>view</a:t>
              </a:r>
              <a:r>
                <a:rPr lang="fr-FR" altLang="fr-FR" sz="700" dirty="0">
                  <a:latin typeface="Arial" panose="020B0604020202020204" pitchFamily="34" charset="0"/>
                </a:rPr>
                <a:t> of </a:t>
              </a:r>
              <a:r>
                <a:rPr lang="fr-FR" altLang="fr-FR" sz="700" dirty="0" err="1">
                  <a:latin typeface="Arial" panose="020B0604020202020204" pitchFamily="34" charset="0"/>
                </a:rPr>
                <a:t>failure</a:t>
              </a:r>
              <a:r>
                <a:rPr lang="fr-FR" altLang="fr-FR" sz="700" dirty="0">
                  <a:latin typeface="Arial" panose="020B0604020202020204" pitchFamily="34" charset="0"/>
                </a:rPr>
                <a:t> causes </a:t>
              </a:r>
              <a:r>
                <a:rPr lang="fr-FR" altLang="fr-FR" sz="700" dirty="0" err="1">
                  <a:latin typeface="Arial" panose="020B0604020202020204" pitchFamily="34" charset="0"/>
                </a:rPr>
                <a:t>across</a:t>
              </a:r>
              <a:r>
                <a:rPr lang="fr-FR" altLang="fr-FR" sz="700" dirty="0">
                  <a:latin typeface="Arial" panose="020B0604020202020204" pitchFamily="34" charset="0"/>
                </a:rPr>
                <a:t> the system</a:t>
              </a:r>
            </a:p>
            <a:p>
              <a:pPr lvl="0" eaLnBrk="0" fontAlgn="base" hangingPunct="0">
                <a:spcBef>
                  <a:spcPct val="0"/>
                </a:spcBef>
                <a:spcAft>
                  <a:spcPct val="0"/>
                </a:spcAft>
                <a:buFontTx/>
                <a:buChar char="•"/>
              </a:pPr>
              <a:r>
                <a:rPr lang="fr-FR" altLang="fr-FR" sz="700" dirty="0" err="1">
                  <a:latin typeface="Arial" panose="020B0604020202020204" pitchFamily="34" charset="0"/>
                </a:rPr>
                <a:t>Difficulty</a:t>
              </a:r>
              <a:r>
                <a:rPr lang="fr-FR" altLang="fr-FR" sz="700" dirty="0">
                  <a:latin typeface="Arial" panose="020B0604020202020204" pitchFamily="34" charset="0"/>
                </a:rPr>
                <a:t> in </a:t>
              </a:r>
              <a:r>
                <a:rPr lang="fr-FR" altLang="fr-FR" sz="700" dirty="0" err="1">
                  <a:latin typeface="Arial" panose="020B0604020202020204" pitchFamily="34" charset="0"/>
                </a:rPr>
                <a:t>analyzing</a:t>
              </a:r>
              <a:r>
                <a:rPr lang="fr-FR" altLang="fr-FR" sz="700" dirty="0">
                  <a:latin typeface="Arial" panose="020B0604020202020204" pitchFamily="34" charset="0"/>
                </a:rPr>
                <a:t> and </a:t>
              </a:r>
              <a:r>
                <a:rPr lang="fr-FR" altLang="fr-FR" sz="700" dirty="0" err="1">
                  <a:latin typeface="Arial" panose="020B0604020202020204" pitchFamily="34" charset="0"/>
                </a:rPr>
                <a:t>understanding</a:t>
              </a:r>
              <a:r>
                <a:rPr lang="fr-FR" altLang="fr-FR" sz="700" dirty="0">
                  <a:latin typeface="Arial" panose="020B0604020202020204" pitchFamily="34" charset="0"/>
                </a:rPr>
                <a:t> </a:t>
              </a:r>
              <a:r>
                <a:rPr lang="fr-FR" altLang="fr-FR" sz="700" b="1" dirty="0" err="1">
                  <a:latin typeface="Arial" panose="020B0604020202020204" pitchFamily="34" charset="0"/>
                </a:rPr>
                <a:t>failure</a:t>
              </a:r>
              <a:r>
                <a:rPr lang="fr-FR" altLang="fr-FR" sz="700" b="1" dirty="0">
                  <a:latin typeface="Arial" panose="020B0604020202020204" pitchFamily="34" charset="0"/>
                </a:rPr>
                <a:t> trends and </a:t>
              </a:r>
              <a:r>
                <a:rPr lang="fr-FR" altLang="fr-FR" sz="700" b="1" dirty="0" err="1">
                  <a:latin typeface="Arial" panose="020B0604020202020204" pitchFamily="34" charset="0"/>
                </a:rPr>
                <a:t>correlations</a:t>
              </a:r>
              <a:endParaRPr lang="fr-FR" altLang="fr-FR" sz="700" b="1" dirty="0">
                <a:latin typeface="Arial" panose="020B0604020202020204" pitchFamily="34" charset="0"/>
              </a:endParaRPr>
            </a:p>
            <a:p>
              <a:pPr lvl="0" eaLnBrk="0" fontAlgn="base" hangingPunct="0">
                <a:spcBef>
                  <a:spcPct val="0"/>
                </a:spcBef>
                <a:spcAft>
                  <a:spcPct val="0"/>
                </a:spcAft>
                <a:buFontTx/>
                <a:buChar char="•"/>
              </a:pPr>
              <a:r>
                <a:rPr lang="fr-FR" altLang="fr-FR" sz="700" b="1" dirty="0">
                  <a:latin typeface="Arial" panose="020B0604020202020204" pitchFamily="34" charset="0"/>
                </a:rPr>
                <a:t>Limited </a:t>
              </a:r>
              <a:r>
                <a:rPr lang="fr-FR" altLang="fr-FR" sz="700" b="1" dirty="0" err="1">
                  <a:latin typeface="Arial" panose="020B0604020202020204" pitchFamily="34" charset="0"/>
                </a:rPr>
                <a:t>tools</a:t>
              </a:r>
              <a:r>
                <a:rPr lang="fr-FR" altLang="fr-FR" sz="700" dirty="0">
                  <a:latin typeface="Arial" panose="020B0604020202020204" pitchFamily="34" charset="0"/>
                </a:rPr>
                <a:t> to support fast, data-</a:t>
              </a:r>
              <a:r>
                <a:rPr lang="fr-FR" altLang="fr-FR" sz="700" dirty="0" err="1">
                  <a:latin typeface="Arial" panose="020B0604020202020204" pitchFamily="34" charset="0"/>
                </a:rPr>
                <a:t>driven</a:t>
              </a:r>
              <a:r>
                <a:rPr lang="fr-FR" altLang="fr-FR" sz="700" dirty="0">
                  <a:latin typeface="Arial" panose="020B0604020202020204" pitchFamily="34" charset="0"/>
                </a:rPr>
                <a:t> </a:t>
              </a:r>
              <a:r>
                <a:rPr lang="fr-FR" altLang="fr-FR" sz="700" dirty="0" err="1">
                  <a:latin typeface="Arial" panose="020B0604020202020204" pitchFamily="34" charset="0"/>
                </a:rPr>
                <a:t>decision-making</a:t>
              </a:r>
              <a:endParaRPr lang="fr-FR" altLang="fr-FR" sz="700" dirty="0">
                <a:latin typeface="Arial" panose="020B0604020202020204" pitchFamily="34" charset="0"/>
              </a:endParaRPr>
            </a:p>
            <a:p>
              <a:pPr lvl="0" eaLnBrk="0" fontAlgn="base" hangingPunct="0">
                <a:spcBef>
                  <a:spcPct val="0"/>
                </a:spcBef>
                <a:spcAft>
                  <a:spcPct val="0"/>
                </a:spcAft>
                <a:buFontTx/>
                <a:buChar char="•"/>
              </a:pPr>
              <a:r>
                <a:rPr lang="fr-FR" altLang="fr-FR" sz="700" dirty="0">
                  <a:latin typeface="Arial" panose="020B0604020202020204" pitchFamily="34" charset="0"/>
                </a:rPr>
                <a:t>As a </a:t>
              </a:r>
              <a:r>
                <a:rPr lang="fr-FR" altLang="fr-FR" sz="700" dirty="0" err="1">
                  <a:latin typeface="Arial" panose="020B0604020202020204" pitchFamily="34" charset="0"/>
                </a:rPr>
                <a:t>result</a:t>
              </a:r>
              <a:r>
                <a:rPr lang="fr-FR" altLang="fr-FR" sz="700" dirty="0">
                  <a:latin typeface="Arial" panose="020B0604020202020204" pitchFamily="34" charset="0"/>
                </a:rPr>
                <a:t>, </a:t>
              </a:r>
              <a:r>
                <a:rPr lang="fr-FR" altLang="fr-FR" sz="700" b="1" dirty="0" err="1">
                  <a:latin typeface="Arial" panose="020B0604020202020204" pitchFamily="34" charset="0"/>
                </a:rPr>
                <a:t>identifying</a:t>
              </a:r>
              <a:r>
                <a:rPr lang="fr-FR" altLang="fr-FR" sz="700" b="1" dirty="0">
                  <a:latin typeface="Arial" panose="020B0604020202020204" pitchFamily="34" charset="0"/>
                </a:rPr>
                <a:t> the root cause</a:t>
              </a:r>
              <a:r>
                <a:rPr lang="fr-FR" altLang="fr-FR" sz="700" dirty="0">
                  <a:latin typeface="Arial" panose="020B0604020202020204" pitchFamily="34" charset="0"/>
                </a:rPr>
                <a:t> of stoppages </a:t>
              </a:r>
              <a:r>
                <a:rPr lang="fr-FR" altLang="fr-FR" sz="700" dirty="0" err="1">
                  <a:latin typeface="Arial" panose="020B0604020202020204" pitchFamily="34" charset="0"/>
                </a:rPr>
                <a:t>takes</a:t>
              </a:r>
              <a:r>
                <a:rPr lang="fr-FR" altLang="fr-FR" sz="700" dirty="0">
                  <a:latin typeface="Arial" panose="020B0604020202020204" pitchFamily="34" charset="0"/>
                </a:rPr>
                <a:t> </a:t>
              </a:r>
              <a:r>
                <a:rPr lang="fr-FR" altLang="fr-FR" sz="700" dirty="0" err="1">
                  <a:latin typeface="Arial" panose="020B0604020202020204" pitchFamily="34" charset="0"/>
                </a:rPr>
                <a:t>too</a:t>
              </a:r>
              <a:r>
                <a:rPr lang="fr-FR" altLang="fr-FR" sz="700" dirty="0">
                  <a:latin typeface="Arial" panose="020B0604020202020204" pitchFamily="34" charset="0"/>
                </a:rPr>
                <a:t> long, </a:t>
              </a:r>
              <a:r>
                <a:rPr lang="fr-FR" altLang="fr-FR" sz="700" dirty="0" err="1">
                  <a:latin typeface="Arial" panose="020B0604020202020204" pitchFamily="34" charset="0"/>
                </a:rPr>
                <a:t>leading</a:t>
              </a:r>
              <a:r>
                <a:rPr lang="fr-FR" altLang="fr-FR" sz="700" dirty="0">
                  <a:latin typeface="Arial" panose="020B0604020202020204" pitchFamily="34" charset="0"/>
                </a:rPr>
                <a:t> to </a:t>
              </a:r>
              <a:r>
                <a:rPr lang="fr-FR" altLang="fr-FR" sz="700" dirty="0" err="1">
                  <a:latin typeface="Arial" panose="020B0604020202020204" pitchFamily="34" charset="0"/>
                </a:rPr>
                <a:t>extended</a:t>
              </a:r>
              <a:r>
                <a:rPr lang="fr-FR" altLang="fr-FR" sz="700" dirty="0">
                  <a:latin typeface="Arial" panose="020B0604020202020204" pitchFamily="34" charset="0"/>
                </a:rPr>
                <a:t> </a:t>
              </a:r>
              <a:r>
                <a:rPr lang="fr-FR" altLang="fr-FR" sz="700" dirty="0" err="1">
                  <a:latin typeface="Arial" panose="020B0604020202020204" pitchFamily="34" charset="0"/>
                </a:rPr>
                <a:t>downtime</a:t>
              </a:r>
              <a:r>
                <a:rPr lang="fr-FR" altLang="fr-FR" sz="700" dirty="0">
                  <a:latin typeface="Arial" panose="020B0604020202020204" pitchFamily="34" charset="0"/>
                </a:rPr>
                <a:t>, </a:t>
              </a:r>
              <a:r>
                <a:rPr lang="fr-FR" altLang="fr-FR" sz="700" b="1" dirty="0" err="1">
                  <a:latin typeface="Arial" panose="020B0604020202020204" pitchFamily="34" charset="0"/>
                </a:rPr>
                <a:t>higher</a:t>
              </a:r>
              <a:r>
                <a:rPr lang="fr-FR" altLang="fr-FR" sz="700" b="1" dirty="0">
                  <a:latin typeface="Arial" panose="020B0604020202020204" pitchFamily="34" charset="0"/>
                </a:rPr>
                <a:t> </a:t>
              </a:r>
              <a:r>
                <a:rPr lang="fr-FR" altLang="fr-FR" sz="700" b="1" dirty="0" err="1">
                  <a:latin typeface="Arial" panose="020B0604020202020204" pitchFamily="34" charset="0"/>
                </a:rPr>
                <a:t>scrap</a:t>
              </a:r>
              <a:r>
                <a:rPr lang="fr-FR" altLang="fr-FR" sz="700" dirty="0">
                  <a:latin typeface="Arial" panose="020B0604020202020204" pitchFamily="34" charset="0"/>
                </a:rPr>
                <a:t>, and </a:t>
              </a:r>
              <a:r>
                <a:rPr lang="fr-FR" altLang="fr-FR" sz="700" b="1" dirty="0" err="1">
                  <a:latin typeface="Arial" panose="020B0604020202020204" pitchFamily="34" charset="0"/>
                </a:rPr>
                <a:t>increased</a:t>
              </a:r>
              <a:r>
                <a:rPr lang="fr-FR" altLang="fr-FR" sz="700" b="1" dirty="0">
                  <a:latin typeface="Arial" panose="020B0604020202020204" pitchFamily="34" charset="0"/>
                </a:rPr>
                <a:t> </a:t>
              </a:r>
              <a:r>
                <a:rPr lang="fr-FR" altLang="fr-FR" sz="700" b="1" dirty="0" err="1">
                  <a:latin typeface="Arial" panose="020B0604020202020204" pitchFamily="34" charset="0"/>
                </a:rPr>
                <a:t>energy</a:t>
              </a:r>
              <a:r>
                <a:rPr lang="fr-FR" altLang="fr-FR" sz="700" b="1" dirty="0">
                  <a:latin typeface="Arial" panose="020B0604020202020204" pitchFamily="34" charset="0"/>
                </a:rPr>
                <a:t> </a:t>
              </a:r>
              <a:r>
                <a:rPr lang="fr-FR" altLang="fr-FR" sz="700" b="1" dirty="0" err="1">
                  <a:latin typeface="Arial" panose="020B0604020202020204" pitchFamily="34" charset="0"/>
                </a:rPr>
                <a:t>consumption</a:t>
              </a:r>
              <a:endParaRPr lang="en-US" sz="700" dirty="0"/>
            </a:p>
            <a:p>
              <a:pPr lvl="0" defTabSz="1219170">
                <a:defRPr/>
              </a:pPr>
              <a:endParaRPr kumimoji="1" lang="en-US" sz="700" b="1" i="0" u="none" strike="noStrike" kern="0" cap="none" spc="0" normalizeH="0" baseline="0" noProof="0" dirty="0">
                <a:ln>
                  <a:noFill/>
                </a:ln>
                <a:solidFill>
                  <a:srgbClr val="001F6B"/>
                </a:solidFill>
                <a:effectLst/>
                <a:uLnTx/>
                <a:uFillTx/>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sz="700" b="1" i="0" u="none" strike="noStrike" kern="0" cap="none" spc="0" normalizeH="0" baseline="0" noProof="0" dirty="0">
                  <a:ln>
                    <a:noFill/>
                  </a:ln>
                  <a:solidFill>
                    <a:srgbClr val="001F6B"/>
                  </a:solidFill>
                  <a:effectLst/>
                  <a:uLnTx/>
                  <a:uFillTx/>
                  <a:ea typeface="+mn-ea"/>
                  <a:cs typeface="+mn-cs"/>
                </a:rPr>
                <a:t>Target description : </a:t>
              </a:r>
            </a:p>
            <a:p>
              <a:pPr defTabSz="1219170">
                <a:defRPr/>
              </a:pPr>
              <a:r>
                <a:rPr lang="fr-FR" altLang="fr-FR" sz="700" dirty="0">
                  <a:latin typeface="Arial" panose="020B0604020202020204" pitchFamily="34" charset="0"/>
                </a:rPr>
                <a:t>Our objective </a:t>
              </a:r>
              <a:r>
                <a:rPr lang="fr-FR" altLang="fr-FR" sz="700" dirty="0" err="1">
                  <a:latin typeface="Arial" panose="020B0604020202020204" pitchFamily="34" charset="0"/>
                </a:rPr>
                <a:t>is</a:t>
              </a:r>
              <a:r>
                <a:rPr lang="fr-FR" altLang="fr-FR" sz="700" dirty="0">
                  <a:latin typeface="Arial" panose="020B0604020202020204" pitchFamily="34" charset="0"/>
                </a:rPr>
                <a:t> to </a:t>
              </a:r>
              <a:r>
                <a:rPr lang="fr-FR" altLang="fr-FR" sz="700" dirty="0" err="1">
                  <a:latin typeface="Arial" panose="020B0604020202020204" pitchFamily="34" charset="0"/>
                </a:rPr>
                <a:t>build</a:t>
              </a:r>
              <a:r>
                <a:rPr lang="fr-FR" altLang="fr-FR" sz="700" dirty="0">
                  <a:latin typeface="Arial" panose="020B0604020202020204" pitchFamily="34" charset="0"/>
                </a:rPr>
                <a:t> a system </a:t>
              </a:r>
              <a:r>
                <a:rPr lang="fr-FR" altLang="fr-FR" sz="700" dirty="0" err="1">
                  <a:latin typeface="Arial" panose="020B0604020202020204" pitchFamily="34" charset="0"/>
                </a:rPr>
                <a:t>that</a:t>
              </a:r>
              <a:r>
                <a:rPr lang="fr-FR" altLang="fr-FR" sz="700" dirty="0">
                  <a:latin typeface="Arial" panose="020B0604020202020204" pitchFamily="34" charset="0"/>
                </a:rPr>
                <a:t> enables </a:t>
              </a:r>
              <a:r>
                <a:rPr lang="fr-FR" altLang="fr-FR" sz="700" b="1" dirty="0">
                  <a:latin typeface="Arial" panose="020B0604020202020204" pitchFamily="34" charset="0"/>
                </a:rPr>
                <a:t>real-time monitoring</a:t>
              </a:r>
              <a:r>
                <a:rPr lang="fr-FR" altLang="fr-FR" sz="700" dirty="0">
                  <a:latin typeface="Arial" panose="020B0604020202020204" pitchFamily="34" charset="0"/>
                </a:rPr>
                <a:t>, </a:t>
              </a:r>
              <a:r>
                <a:rPr lang="fr-FR" altLang="fr-FR" sz="700" b="1" dirty="0">
                  <a:latin typeface="Arial" panose="020B0604020202020204" pitchFamily="34" charset="0"/>
                </a:rPr>
                <a:t>intelligent </a:t>
              </a:r>
              <a:r>
                <a:rPr lang="fr-FR" altLang="fr-FR" sz="700" b="1" dirty="0" err="1">
                  <a:latin typeface="Arial" panose="020B0604020202020204" pitchFamily="34" charset="0"/>
                </a:rPr>
                <a:t>failure</a:t>
              </a:r>
              <a:r>
                <a:rPr lang="fr-FR" altLang="fr-FR" sz="700" b="1" dirty="0">
                  <a:latin typeface="Arial" panose="020B0604020202020204" pitchFamily="34" charset="0"/>
                </a:rPr>
                <a:t> </a:t>
              </a:r>
              <a:r>
                <a:rPr lang="fr-FR" altLang="fr-FR" sz="700" b="1" dirty="0" err="1">
                  <a:latin typeface="Arial" panose="020B0604020202020204" pitchFamily="34" charset="0"/>
                </a:rPr>
                <a:t>detection</a:t>
              </a:r>
              <a:r>
                <a:rPr lang="fr-FR" altLang="fr-FR" sz="700" dirty="0">
                  <a:latin typeface="Arial" panose="020B0604020202020204" pitchFamily="34" charset="0"/>
                </a:rPr>
                <a:t>, and </a:t>
              </a:r>
              <a:r>
                <a:rPr lang="fr-FR" altLang="fr-FR" sz="700" b="1" dirty="0" err="1">
                  <a:latin typeface="Arial" panose="020B0604020202020204" pitchFamily="34" charset="0"/>
                </a:rPr>
                <a:t>better</a:t>
              </a:r>
              <a:r>
                <a:rPr lang="fr-FR" altLang="fr-FR" sz="700" b="1" dirty="0">
                  <a:latin typeface="Arial" panose="020B0604020202020204" pitchFamily="34" charset="0"/>
                </a:rPr>
                <a:t> </a:t>
              </a:r>
              <a:r>
                <a:rPr lang="fr-FR" altLang="fr-FR" sz="700" b="1" dirty="0" err="1">
                  <a:latin typeface="Arial" panose="020B0604020202020204" pitchFamily="34" charset="0"/>
                </a:rPr>
                <a:t>decision-making</a:t>
              </a:r>
              <a:r>
                <a:rPr lang="fr-FR" altLang="fr-FR" sz="700" dirty="0">
                  <a:latin typeface="Arial" panose="020B0604020202020204" pitchFamily="34" charset="0"/>
                </a:rPr>
                <a:t> </a:t>
              </a:r>
              <a:r>
                <a:rPr lang="fr-FR" altLang="fr-FR" sz="700" dirty="0" err="1">
                  <a:latin typeface="Arial" panose="020B0604020202020204" pitchFamily="34" charset="0"/>
                </a:rPr>
                <a:t>across</a:t>
              </a:r>
              <a:r>
                <a:rPr lang="fr-FR" altLang="fr-FR" sz="700" dirty="0">
                  <a:latin typeface="Arial" panose="020B0604020202020204" pitchFamily="34" charset="0"/>
                </a:rPr>
                <a:t> the production line.</a:t>
              </a:r>
            </a:p>
            <a:p>
              <a:pPr lvl="0" defTabSz="1219170">
                <a:defRPr/>
              </a:pPr>
              <a:r>
                <a:rPr lang="en-US" sz="700" dirty="0"/>
                <a:t>We aim to: </a:t>
              </a:r>
            </a:p>
            <a:p>
              <a:pPr marL="171450" lvl="0" indent="-171450" defTabSz="1219170">
                <a:buFont typeface="Arial" panose="020B0604020202020204" pitchFamily="34" charset="0"/>
                <a:buChar char="•"/>
                <a:defRPr/>
              </a:pPr>
              <a:r>
                <a:rPr lang="en-US" sz="700" dirty="0"/>
                <a:t>Develop a centralized monitoring system for the convoying system of the ALS furnace </a:t>
              </a:r>
            </a:p>
            <a:p>
              <a:pPr marL="171450" lvl="0" indent="-171450" defTabSz="1219170">
                <a:buFont typeface="Arial" panose="020B0604020202020204" pitchFamily="34" charset="0"/>
                <a:buChar char="•"/>
                <a:defRPr/>
              </a:pPr>
              <a:r>
                <a:rPr lang="en-US" sz="700" dirty="0"/>
                <a:t>Automate data collection and visualization of all key sequences and sensor conditions </a:t>
              </a:r>
            </a:p>
            <a:p>
              <a:pPr marL="171450" lvl="0" indent="-171450" defTabSz="1219170">
                <a:buFont typeface="Arial" panose="020B0604020202020204" pitchFamily="34" charset="0"/>
                <a:buChar char="•"/>
                <a:defRPr/>
              </a:pPr>
              <a:r>
                <a:rPr lang="en-US" sz="700" dirty="0"/>
                <a:t>Enable easy exploration of historical data through smart dashboards</a:t>
              </a:r>
            </a:p>
            <a:p>
              <a:pPr marL="171450" lvl="0" indent="-171450" defTabSz="1219170">
                <a:buFont typeface="Arial" panose="020B0604020202020204" pitchFamily="34" charset="0"/>
                <a:buChar char="•"/>
                <a:defRPr/>
              </a:pPr>
              <a:r>
                <a:rPr lang="en-US" sz="700" dirty="0"/>
                <a:t>Automatically retrieve and structure data (CSV, JSON, logs) for AI readiness</a:t>
              </a:r>
            </a:p>
            <a:p>
              <a:pPr marL="171450" lvl="0" indent="-171450" defTabSz="1219170">
                <a:buFont typeface="Arial" panose="020B0604020202020204" pitchFamily="34" charset="0"/>
                <a:buChar char="•"/>
                <a:defRPr/>
              </a:pPr>
              <a:r>
                <a:rPr lang="en-US" sz="700" dirty="0"/>
                <a:t>Identify recurring failure patterns using virtual traceability (linked to zones, components, or conditions) </a:t>
              </a:r>
            </a:p>
            <a:p>
              <a:pPr marL="171450" lvl="0" indent="-171450" defTabSz="1219170">
                <a:buFont typeface="Arial" panose="020B0604020202020204" pitchFamily="34" charset="0"/>
                <a:buChar char="•"/>
                <a:defRPr/>
              </a:pPr>
              <a:r>
                <a:rPr lang="en-US" sz="700" dirty="0"/>
                <a:t>Improve quality control by reacting faster to anomalies Ultimately, reduce downtime, scrap rates, and energy costs, while delivering more consistent product quality</a:t>
              </a:r>
            </a:p>
            <a:p>
              <a:r>
                <a:rPr lang="en-US" sz="700" b="1" dirty="0">
                  <a:solidFill>
                    <a:srgbClr val="001F6B"/>
                  </a:solidFill>
                </a:rPr>
                <a:t>Scope</a:t>
              </a:r>
            </a:p>
            <a:p>
              <a:r>
                <a:rPr lang="en-US" sz="700" dirty="0"/>
                <a:t>This project focuses on the </a:t>
              </a:r>
              <a:r>
                <a:rPr lang="en-US" sz="700" b="1" dirty="0"/>
                <a:t>ALS furnace</a:t>
              </a:r>
              <a:r>
                <a:rPr lang="en-US" sz="700" dirty="0"/>
                <a:t> and aims to implement a system for </a:t>
              </a:r>
              <a:r>
                <a:rPr lang="en-US" sz="700" b="1" dirty="0"/>
                <a:t>data collection, analysis, visualization and alerting</a:t>
              </a:r>
              <a:r>
                <a:rPr lang="en-US" sz="700" dirty="0"/>
                <a:t>. It will cover the development of tools to process </a:t>
              </a:r>
              <a:r>
                <a:rPr lang="en-US" sz="700" b="1" dirty="0"/>
                <a:t>historical and real-time data</a:t>
              </a:r>
              <a:r>
                <a:rPr lang="en-US" sz="700" dirty="0"/>
                <a:t>, define </a:t>
              </a:r>
              <a:r>
                <a:rPr lang="en-US" sz="700" b="1" dirty="0"/>
                <a:t>sequence logic and sensor conditions</a:t>
              </a:r>
              <a:r>
                <a:rPr lang="en-US" sz="700" dirty="0"/>
                <a:t>, and support the detection of abnormal behavior. The scope is limited to </a:t>
              </a:r>
              <a:r>
                <a:rPr lang="en-US" sz="700" b="1" dirty="0"/>
                <a:t>monitoring and diagnostic support</a:t>
              </a:r>
              <a:r>
                <a:rPr lang="en-US" sz="700" dirty="0"/>
                <a:t>, and does not include changes to the furnace’s automation or control systems.</a:t>
              </a:r>
            </a:p>
            <a:p>
              <a:pPr marL="171450" lvl="0" indent="-171450" defTabSz="1219170">
                <a:buFont typeface="Arial" panose="020B0604020202020204" pitchFamily="34" charset="0"/>
                <a:buChar char="•"/>
                <a:defRPr/>
              </a:pPr>
              <a:endParaRPr kumimoji="1" lang="en-US" sz="700" b="1" i="0" u="none" strike="noStrike" kern="0" cap="none" spc="0" normalizeH="0" baseline="0" noProof="0" dirty="0">
                <a:ln>
                  <a:noFill/>
                </a:ln>
                <a:solidFill>
                  <a:srgbClr val="001F6B"/>
                </a:solidFill>
                <a:effectLst/>
                <a:uLnTx/>
                <a:uFillTx/>
                <a:ea typeface="+mn-ea"/>
                <a:cs typeface="+mn-cs"/>
              </a:endParaRPr>
            </a:p>
          </p:txBody>
        </p:sp>
        <p:sp>
          <p:nvSpPr>
            <p:cNvPr id="26" name="Rectangle 25">
              <a:extLst>
                <a:ext uri="{FF2B5EF4-FFF2-40B4-BE49-F238E27FC236}">
                  <a16:creationId xmlns:a16="http://schemas.microsoft.com/office/drawing/2014/main" id="{FC6EC2F4-EE78-D2AC-B239-125BEC2C9D9D}"/>
                </a:ext>
              </a:extLst>
            </p:cNvPr>
            <p:cNvSpPr/>
            <p:nvPr/>
          </p:nvSpPr>
          <p:spPr>
            <a:xfrm>
              <a:off x="128359" y="3257070"/>
              <a:ext cx="3618523" cy="257908"/>
            </a:xfrm>
            <a:prstGeom prst="rect">
              <a:avLst/>
            </a:prstGeom>
            <a:solidFill>
              <a:srgbClr val="001F6B"/>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Epic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Owner</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and Team</a:t>
              </a:r>
            </a:p>
          </p:txBody>
        </p:sp>
        <p:sp>
          <p:nvSpPr>
            <p:cNvPr id="27" name="Rectangle 26">
              <a:extLst>
                <a:ext uri="{FF2B5EF4-FFF2-40B4-BE49-F238E27FC236}">
                  <a16:creationId xmlns:a16="http://schemas.microsoft.com/office/drawing/2014/main" id="{5C2D708C-D483-1348-ACDB-77AEE53106D5}"/>
                </a:ext>
              </a:extLst>
            </p:cNvPr>
            <p:cNvSpPr/>
            <p:nvPr/>
          </p:nvSpPr>
          <p:spPr>
            <a:xfrm>
              <a:off x="128362" y="3529844"/>
              <a:ext cx="3618523" cy="468982"/>
            </a:xfrm>
            <a:prstGeom prst="rect">
              <a:avLst/>
            </a:prstGeom>
            <a:solidFill>
              <a:srgbClr val="FFFFFF">
                <a:lumMod val="95000"/>
              </a:srgbClr>
            </a:solidFill>
            <a:ln w="25400" cap="flat" cmpd="sng" algn="ctr">
              <a:noFill/>
              <a:prstDash val="solid"/>
            </a:ln>
            <a:effectLst/>
          </p:spPr>
          <p:txBody>
            <a:bodyPr rtlCol="0" anchor="t"/>
            <a:lstStyle/>
            <a:p>
              <a:pPr marR="0" lvl="0" algn="l" defTabSz="1219170" rtl="0" eaLnBrk="1" fontAlgn="auto" latinLnBrk="0" hangingPunct="1">
                <a:lnSpc>
                  <a:spcPct val="100000"/>
                </a:lnSpc>
                <a:spcBef>
                  <a:spcPts val="0"/>
                </a:spcBef>
                <a:spcAft>
                  <a:spcPts val="0"/>
                </a:spcAft>
                <a:buClrTx/>
                <a:buSzTx/>
                <a:tabLst/>
                <a:defRPr/>
              </a:pPr>
              <a:r>
                <a:rPr kumimoji="1" lang="fr-BE" sz="1100" b="1" i="0" u="none" strike="noStrike" kern="0" cap="none" spc="0" normalizeH="0" baseline="0" noProof="0" dirty="0">
                  <a:ln>
                    <a:noFill/>
                  </a:ln>
                  <a:solidFill>
                    <a:srgbClr val="001F6B"/>
                  </a:solidFill>
                  <a:effectLst/>
                  <a:uLnTx/>
                  <a:uFillTx/>
                  <a:latin typeface="Arial" panose="020B0604020202020204"/>
                  <a:ea typeface="+mn-ea"/>
                  <a:cs typeface="+mn-cs"/>
                </a:rPr>
                <a:t>Project </a:t>
              </a:r>
              <a:r>
                <a:rPr kumimoji="1" lang="fr-BE" sz="1100" b="1" i="0" u="none" strike="noStrike" kern="0" cap="none" spc="0" normalizeH="0" baseline="0" noProof="0" dirty="0" err="1">
                  <a:ln>
                    <a:noFill/>
                  </a:ln>
                  <a:solidFill>
                    <a:srgbClr val="001F6B"/>
                  </a:solidFill>
                  <a:effectLst/>
                  <a:uLnTx/>
                  <a:uFillTx/>
                  <a:latin typeface="Arial" panose="020B0604020202020204"/>
                  <a:ea typeface="+mn-ea"/>
                  <a:cs typeface="+mn-cs"/>
                </a:rPr>
                <a:t>Owner</a:t>
              </a:r>
              <a:r>
                <a:rPr kumimoji="1" lang="fr-BE" sz="1100" b="1" i="0" u="none" strike="noStrike" kern="0" cap="none" spc="0" normalizeH="0" baseline="0" noProof="0" dirty="0">
                  <a:ln>
                    <a:noFill/>
                  </a:ln>
                  <a:solidFill>
                    <a:srgbClr val="001F6B"/>
                  </a:solidFill>
                  <a:effectLst/>
                  <a:uLnTx/>
                  <a:uFillTx/>
                  <a:latin typeface="Arial" panose="020B0604020202020204"/>
                  <a:ea typeface="+mn-ea"/>
                  <a:cs typeface="+mn-cs"/>
                </a:rPr>
                <a:t> :</a:t>
              </a:r>
              <a:endParaRPr kumimoji="1" lang="fr-BE" sz="1100" b="0" i="0" u="none" strike="noStrike" kern="0" cap="none" spc="0" normalizeH="0" baseline="0" noProof="0" dirty="0">
                <a:ln>
                  <a:noFill/>
                </a:ln>
                <a:solidFill>
                  <a:srgbClr val="001F6B"/>
                </a:solidFill>
                <a:effectLst/>
                <a:uLnTx/>
                <a:uFillTx/>
                <a:latin typeface="Arial" panose="020B0604020202020204"/>
                <a:ea typeface="+mn-ea"/>
                <a:cs typeface="+mn-cs"/>
              </a:endParaRPr>
            </a:p>
            <a:p>
              <a:pPr marR="0" lvl="0" algn="l" defTabSz="1219170" rtl="0" eaLnBrk="1" fontAlgn="auto" latinLnBrk="0" hangingPunct="1">
                <a:lnSpc>
                  <a:spcPct val="100000"/>
                </a:lnSpc>
                <a:spcBef>
                  <a:spcPts val="0"/>
                </a:spcBef>
                <a:spcAft>
                  <a:spcPts val="0"/>
                </a:spcAft>
                <a:buClrTx/>
                <a:buSzTx/>
                <a:tabLst/>
                <a:defRPr/>
              </a:pPr>
              <a:r>
                <a:rPr kumimoji="1" lang="fr-BE" sz="1100" b="1" kern="0" dirty="0">
                  <a:solidFill>
                    <a:srgbClr val="001F6B"/>
                  </a:solidFill>
                  <a:latin typeface="Arial" panose="020B0604020202020204"/>
                </a:rPr>
                <a:t>Team :</a:t>
              </a:r>
              <a:endParaRPr kumimoji="1" lang="fr-BE" sz="1100" kern="0" dirty="0">
                <a:solidFill>
                  <a:srgbClr val="001F6B"/>
                </a:solidFill>
                <a:latin typeface="Arial" panose="020B0604020202020204"/>
              </a:endParaRPr>
            </a:p>
          </p:txBody>
        </p:sp>
        <p:sp>
          <p:nvSpPr>
            <p:cNvPr id="28" name="Rectangle 27">
              <a:extLst>
                <a:ext uri="{FF2B5EF4-FFF2-40B4-BE49-F238E27FC236}">
                  <a16:creationId xmlns:a16="http://schemas.microsoft.com/office/drawing/2014/main" id="{43A965CF-05AC-466C-F995-D3206BC9FBFD}"/>
                </a:ext>
              </a:extLst>
            </p:cNvPr>
            <p:cNvSpPr/>
            <p:nvPr/>
          </p:nvSpPr>
          <p:spPr>
            <a:xfrm>
              <a:off x="128360" y="4017540"/>
              <a:ext cx="3618523" cy="257908"/>
            </a:xfrm>
            <a:prstGeom prst="rect">
              <a:avLst/>
            </a:prstGeom>
            <a:solidFill>
              <a:srgbClr val="001F6B"/>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Epic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Results</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(KPIs/ Savings)</a:t>
              </a:r>
            </a:p>
          </p:txBody>
        </p:sp>
        <p:sp>
          <p:nvSpPr>
            <p:cNvPr id="29" name="Rectangle 28">
              <a:extLst>
                <a:ext uri="{FF2B5EF4-FFF2-40B4-BE49-F238E27FC236}">
                  <a16:creationId xmlns:a16="http://schemas.microsoft.com/office/drawing/2014/main" id="{AFC8607B-3FA3-DAD0-D527-C8FC2D3AE43A}"/>
                </a:ext>
              </a:extLst>
            </p:cNvPr>
            <p:cNvSpPr/>
            <p:nvPr/>
          </p:nvSpPr>
          <p:spPr>
            <a:xfrm>
              <a:off x="132859" y="4286737"/>
              <a:ext cx="3618523" cy="257908"/>
            </a:xfrm>
            <a:prstGeom prst="rect">
              <a:avLst/>
            </a:prstGeom>
            <a:solidFill>
              <a:srgbClr val="FFFFFF">
                <a:lumMod val="95000"/>
              </a:srgbClr>
            </a:solidFill>
            <a:ln w="25400" cap="flat" cmpd="sng" algn="ctr">
              <a:noFill/>
              <a:prstDash val="solid"/>
            </a:ln>
            <a:effectLst/>
          </p:spPr>
          <p:txBody>
            <a:bodyPr rot="0" spcFirstLastPara="0" vertOverflow="overflow" horzOverflow="overflow" vert="horz" wrap="square" lIns="121920" tIns="60960" rIns="121920" bIns="60960" numCol="1" spcCol="0" rtlCol="0" fromWordArt="0" anchor="t" anchorCtr="0" forceAA="0" compatLnSpc="1">
              <a:prstTxWarp prst="textNoShape">
                <a:avLst/>
              </a:prstTxWarp>
              <a:noAutofit/>
            </a:bodyPr>
            <a:lstStyle/>
            <a:p>
              <a:pPr marL="228594" indent="-228594" defTabSz="1219170">
                <a:buFont typeface="Arial" panose="020B0604020202020204" pitchFamily="34" charset="0"/>
                <a:buChar char="•"/>
                <a:defRPr/>
              </a:pPr>
              <a:r>
                <a:rPr lang="fr-MA" sz="1350" dirty="0" err="1">
                  <a:solidFill>
                    <a:srgbClr val="001F6B"/>
                  </a:solidFill>
                  <a:latin typeface="Arial" panose="020B0604020202020204" pitchFamily="34" charset="0"/>
                  <a:cs typeface="Arial" panose="020B0604020202020204" pitchFamily="34" charset="0"/>
                </a:rPr>
                <a:t>Faster</a:t>
              </a:r>
              <a:r>
                <a:rPr lang="fr-MA" sz="1350" dirty="0">
                  <a:solidFill>
                    <a:srgbClr val="001F6B"/>
                  </a:solidFill>
                  <a:latin typeface="Arial" panose="020B0604020202020204" pitchFamily="34" charset="0"/>
                  <a:cs typeface="Arial" panose="020B0604020202020204" pitchFamily="34" charset="0"/>
                </a:rPr>
                <a:t> </a:t>
              </a:r>
              <a:r>
                <a:rPr lang="fr-MA" sz="1350" dirty="0" err="1">
                  <a:solidFill>
                    <a:srgbClr val="001F6B"/>
                  </a:solidFill>
                  <a:latin typeface="Arial" panose="020B0604020202020204" pitchFamily="34" charset="0"/>
                  <a:cs typeface="Arial" panose="020B0604020202020204" pitchFamily="34" charset="0"/>
                </a:rPr>
                <a:t>failure</a:t>
              </a:r>
              <a:r>
                <a:rPr lang="fr-MA" sz="1350" dirty="0">
                  <a:solidFill>
                    <a:srgbClr val="001F6B"/>
                  </a:solidFill>
                  <a:latin typeface="Arial" panose="020B0604020202020204" pitchFamily="34" charset="0"/>
                  <a:cs typeface="Arial" panose="020B0604020202020204" pitchFamily="34" charset="0"/>
                </a:rPr>
                <a:t> </a:t>
              </a:r>
              <a:r>
                <a:rPr lang="fr-MA" sz="1350" dirty="0" err="1">
                  <a:solidFill>
                    <a:srgbClr val="001F6B"/>
                  </a:solidFill>
                  <a:latin typeface="Arial" panose="020B0604020202020204" pitchFamily="34" charset="0"/>
                  <a:cs typeface="Arial" panose="020B0604020202020204" pitchFamily="34" charset="0"/>
                </a:rPr>
                <a:t>detection</a:t>
              </a:r>
              <a:r>
                <a:rPr lang="fr-MA" sz="1350" dirty="0">
                  <a:solidFill>
                    <a:srgbClr val="001F6B"/>
                  </a:solidFill>
                  <a:latin typeface="Arial" panose="020B0604020202020204" pitchFamily="34" charset="0"/>
                  <a:cs typeface="Arial" panose="020B0604020202020204" pitchFamily="34" charset="0"/>
                </a:rPr>
                <a:t>, </a:t>
              </a:r>
              <a:r>
                <a:rPr kumimoji="1" lang="fr-BE" sz="1350" b="0" i="0" u="none" strike="noStrike" kern="0" cap="none" spc="0" normalizeH="0" baseline="0" noProof="0" dirty="0" err="1">
                  <a:ln>
                    <a:noFill/>
                  </a:ln>
                  <a:solidFill>
                    <a:srgbClr val="001F6B"/>
                  </a:solidFill>
                  <a:effectLst/>
                  <a:uLnTx/>
                  <a:uFillTx/>
                  <a:latin typeface="Arial" panose="020B0604020202020204"/>
                  <a:ea typeface="+mn-ea"/>
                  <a:cs typeface="+mn-cs"/>
                </a:rPr>
                <a:t>Scrap</a:t>
              </a:r>
              <a:r>
                <a:rPr kumimoji="1" lang="fr-BE" sz="1350" b="0" i="0" u="none" strike="noStrike" kern="0" cap="none" spc="0" normalizeH="0" baseline="0" noProof="0" dirty="0">
                  <a:ln>
                    <a:noFill/>
                  </a:ln>
                  <a:solidFill>
                    <a:srgbClr val="001F6B"/>
                  </a:solidFill>
                  <a:effectLst/>
                  <a:uLnTx/>
                  <a:uFillTx/>
                  <a:latin typeface="Arial" panose="020B0604020202020204"/>
                  <a:ea typeface="+mn-ea"/>
                  <a:cs typeface="+mn-cs"/>
                </a:rPr>
                <a:t> &amp; Energy </a:t>
              </a:r>
              <a:r>
                <a:rPr kumimoji="1" lang="fr-BE" sz="1350" b="0" i="0" u="none" strike="noStrike" kern="0" cap="none" spc="0" normalizeH="0" baseline="0" noProof="0" dirty="0" err="1">
                  <a:ln>
                    <a:noFill/>
                  </a:ln>
                  <a:solidFill>
                    <a:srgbClr val="001F6B"/>
                  </a:solidFill>
                  <a:effectLst/>
                  <a:uLnTx/>
                  <a:uFillTx/>
                  <a:latin typeface="Arial" panose="020B0604020202020204"/>
                  <a:ea typeface="+mn-ea"/>
                  <a:cs typeface="+mn-cs"/>
                </a:rPr>
                <a:t>saving</a:t>
              </a:r>
              <a:endParaRPr kumimoji="1" lang="fr-BE" sz="1350" b="0" i="0" u="none" strike="noStrike" kern="0" cap="none" spc="0" normalizeH="0" baseline="0" noProof="0" dirty="0">
                <a:ln>
                  <a:noFill/>
                </a:ln>
                <a:solidFill>
                  <a:srgbClr val="001F6B"/>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89797A64-A6C1-D2A6-45B6-2EC662642466}"/>
                </a:ext>
              </a:extLst>
            </p:cNvPr>
            <p:cNvSpPr/>
            <p:nvPr/>
          </p:nvSpPr>
          <p:spPr>
            <a:xfrm>
              <a:off x="3817816" y="1039445"/>
              <a:ext cx="5197820" cy="2950546"/>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1" lang="fr-BE" sz="2133" b="0" i="0" u="none" strike="noStrike" kern="0" cap="none" spc="0" normalizeH="0" baseline="0" noProof="0" dirty="0">
                <a:ln>
                  <a:noFill/>
                </a:ln>
                <a:solidFill>
                  <a:srgbClr val="5B618F">
                    <a:lumMod val="40000"/>
                    <a:lumOff val="60000"/>
                  </a:srgbClr>
                </a:solidFill>
                <a:effectLst/>
                <a:uLnTx/>
                <a:uFillTx/>
                <a:latin typeface="Arial" panose="020B0604020202020204"/>
                <a:ea typeface="+mn-ea"/>
                <a:cs typeface="+mn-cs"/>
              </a:endParaRPr>
            </a:p>
          </p:txBody>
        </p:sp>
        <p:sp>
          <p:nvSpPr>
            <p:cNvPr id="31" name="Rectangle 30">
              <a:extLst>
                <a:ext uri="{FF2B5EF4-FFF2-40B4-BE49-F238E27FC236}">
                  <a16:creationId xmlns:a16="http://schemas.microsoft.com/office/drawing/2014/main" id="{D3E77576-1075-7E9F-1375-E369817D62D6}"/>
                </a:ext>
              </a:extLst>
            </p:cNvPr>
            <p:cNvSpPr/>
            <p:nvPr/>
          </p:nvSpPr>
          <p:spPr>
            <a:xfrm>
              <a:off x="3818442" y="3999319"/>
              <a:ext cx="5197821" cy="257908"/>
            </a:xfrm>
            <a:prstGeom prst="rect">
              <a:avLst/>
            </a:prstGeom>
            <a:solidFill>
              <a:srgbClr val="001F6B"/>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Epic impact :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who</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is</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affected</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and how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it</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impacts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way</a:t>
              </a:r>
              <a:r>
                <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rPr>
                <a:t> of </a:t>
              </a:r>
              <a:r>
                <a:rPr kumimoji="1" lang="fr-BE" sz="1600" b="0" i="0" u="none" strike="noStrike" kern="0" cap="none" spc="0" normalizeH="0" baseline="0" noProof="0" dirty="0" err="1">
                  <a:ln>
                    <a:noFill/>
                  </a:ln>
                  <a:solidFill>
                    <a:srgbClr val="FFFFFF"/>
                  </a:solidFill>
                  <a:effectLst/>
                  <a:uLnTx/>
                  <a:uFillTx/>
                  <a:latin typeface="Arial" panose="020B0604020202020204"/>
                  <a:ea typeface="+mn-ea"/>
                  <a:cs typeface="+mn-cs"/>
                </a:rPr>
                <a:t>working</a:t>
              </a:r>
              <a:endParaRPr kumimoji="1" lang="fr-BE"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FF5C1CC2-4D14-6E47-6440-20FDB29B96EA}"/>
                </a:ext>
              </a:extLst>
            </p:cNvPr>
            <p:cNvSpPr/>
            <p:nvPr/>
          </p:nvSpPr>
          <p:spPr>
            <a:xfrm>
              <a:off x="3817815" y="4241197"/>
              <a:ext cx="5197821" cy="303448"/>
            </a:xfrm>
            <a:prstGeom prst="rect">
              <a:avLst/>
            </a:prstGeom>
            <a:solidFill>
              <a:srgbClr val="FFFFFF">
                <a:lumMod val="95000"/>
              </a:srgbClr>
            </a:solidFill>
            <a:ln w="25400" cap="flat" cmpd="sng" algn="ctr">
              <a:noFill/>
              <a:prstDash val="solid"/>
            </a:ln>
            <a:effectLst/>
          </p:spPr>
          <p:txBody>
            <a:bodyPr rot="0" spcFirstLastPara="0" vertOverflow="overflow" horzOverflow="overflow" vert="horz" wrap="square" lIns="121920" tIns="60960" rIns="121920" bIns="60960" numCol="1" spcCol="0" rtlCol="0" fromWordArt="0" anchor="t" anchorCtr="0" forceAA="0" compatLnSpc="1">
              <a:prstTxWarp prst="textNoShape">
                <a:avLst/>
              </a:prstTxWarp>
              <a:noAutofit/>
            </a:bodyPr>
            <a:lstStyle/>
            <a:p>
              <a:pPr marL="380990"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fr-BE" sz="1333" b="0" i="0" u="none" strike="noStrike" kern="0" cap="none" spc="0" normalizeH="0" baseline="0" noProof="0" dirty="0" err="1">
                  <a:ln>
                    <a:noFill/>
                  </a:ln>
                  <a:solidFill>
                    <a:srgbClr val="001F6B"/>
                  </a:solidFill>
                  <a:effectLst/>
                  <a:uLnTx/>
                  <a:uFillTx/>
                  <a:latin typeface="Arial" panose="020B0604020202020204"/>
                  <a:ea typeface="+mn-ea"/>
                  <a:cs typeface="+mn-cs"/>
                </a:rPr>
                <a:t>Personal</a:t>
              </a:r>
              <a:r>
                <a:rPr kumimoji="1" lang="fr-BE" sz="1333" b="0" i="0" u="none" strike="noStrike" kern="0" cap="none" spc="0" normalizeH="0" baseline="0" noProof="0" dirty="0">
                  <a:ln>
                    <a:noFill/>
                  </a:ln>
                  <a:solidFill>
                    <a:srgbClr val="001F6B"/>
                  </a:solidFill>
                  <a:effectLst/>
                  <a:uLnTx/>
                  <a:uFillTx/>
                  <a:latin typeface="Arial" panose="020B0604020202020204"/>
                  <a:ea typeface="+mn-ea"/>
                  <a:cs typeface="+mn-cs"/>
                </a:rPr>
                <a:t> </a:t>
              </a:r>
              <a:r>
                <a:rPr kumimoji="1" lang="fr-BE" sz="1333" b="0" i="0" u="none" strike="noStrike" kern="0" cap="none" spc="0" normalizeH="0" baseline="0" noProof="0" dirty="0" err="1">
                  <a:ln>
                    <a:noFill/>
                  </a:ln>
                  <a:solidFill>
                    <a:srgbClr val="001F6B"/>
                  </a:solidFill>
                  <a:effectLst/>
                  <a:uLnTx/>
                  <a:uFillTx/>
                  <a:latin typeface="Arial" panose="020B0604020202020204"/>
                  <a:ea typeface="+mn-ea"/>
                  <a:cs typeface="+mn-cs"/>
                </a:rPr>
                <a:t>impacted</a:t>
              </a:r>
              <a:r>
                <a:rPr kumimoji="1" lang="fr-BE" sz="1333" b="0" i="0" u="none" strike="noStrike" kern="0" cap="none" spc="0" normalizeH="0" baseline="0" noProof="0" dirty="0">
                  <a:ln>
                    <a:noFill/>
                  </a:ln>
                  <a:solidFill>
                    <a:srgbClr val="001F6B"/>
                  </a:solidFill>
                  <a:effectLst/>
                  <a:uLnTx/>
                  <a:uFillTx/>
                  <a:latin typeface="Arial" panose="020B0604020202020204"/>
                  <a:ea typeface="+mn-ea"/>
                  <a:cs typeface="+mn-cs"/>
                </a:rPr>
                <a:t>: </a:t>
              </a:r>
              <a:r>
                <a:rPr kumimoji="1" lang="fr-BE" sz="1333" b="0" i="0" u="none" strike="noStrike" kern="0" cap="none" spc="0" normalizeH="0" baseline="0" noProof="0" dirty="0" err="1">
                  <a:ln>
                    <a:noFill/>
                  </a:ln>
                  <a:solidFill>
                    <a:srgbClr val="001F6B"/>
                  </a:solidFill>
                  <a:effectLst/>
                  <a:uLnTx/>
                  <a:uFillTx/>
                  <a:latin typeface="Arial" panose="020B0604020202020204"/>
                  <a:ea typeface="+mn-ea"/>
                  <a:cs typeface="+mn-cs"/>
                </a:rPr>
                <a:t>Laminated</a:t>
              </a:r>
              <a:r>
                <a:rPr kumimoji="1" lang="fr-BE" sz="1333" b="0" i="0" u="none" strike="noStrike" kern="0" cap="none" spc="0" normalizeH="0" baseline="0" noProof="0" dirty="0">
                  <a:ln>
                    <a:noFill/>
                  </a:ln>
                  <a:solidFill>
                    <a:srgbClr val="001F6B"/>
                  </a:solidFill>
                  <a:effectLst/>
                  <a:uLnTx/>
                  <a:uFillTx/>
                  <a:latin typeface="Arial" panose="020B0604020202020204"/>
                  <a:ea typeface="+mn-ea"/>
                  <a:cs typeface="+mn-cs"/>
                </a:rPr>
                <a:t> team (</a:t>
              </a:r>
              <a:r>
                <a:rPr kumimoji="1" lang="fr-BE" sz="1333" kern="0" dirty="0">
                  <a:solidFill>
                    <a:srgbClr val="001F6B"/>
                  </a:solidFill>
                  <a:latin typeface="Arial" panose="020B0604020202020204"/>
                </a:rPr>
                <a:t>Process, </a:t>
              </a:r>
              <a:r>
                <a:rPr kumimoji="1" lang="fr-BE" sz="1333" b="0" i="0" u="none" strike="noStrike" kern="0" cap="none" spc="0" normalizeH="0" baseline="0" noProof="0" dirty="0">
                  <a:ln>
                    <a:noFill/>
                  </a:ln>
                  <a:solidFill>
                    <a:srgbClr val="001F6B"/>
                  </a:solidFill>
                  <a:effectLst/>
                  <a:uLnTx/>
                  <a:uFillTx/>
                  <a:latin typeface="Arial" panose="020B0604020202020204"/>
                  <a:ea typeface="+mn-ea"/>
                  <a:cs typeface="+mn-cs"/>
                </a:rPr>
                <a:t>Production, </a:t>
              </a:r>
              <a:r>
                <a:rPr kumimoji="1" lang="fr-BE" sz="1333" b="0" i="0" u="none" strike="noStrike" kern="0" cap="none" spc="0" normalizeH="0" baseline="0" noProof="0" dirty="0" err="1">
                  <a:ln>
                    <a:noFill/>
                  </a:ln>
                  <a:solidFill>
                    <a:srgbClr val="001F6B"/>
                  </a:solidFill>
                  <a:effectLst/>
                  <a:uLnTx/>
                  <a:uFillTx/>
                  <a:latin typeface="Arial" panose="020B0604020202020204"/>
                  <a:ea typeface="+mn-ea"/>
                  <a:cs typeface="+mn-cs"/>
                </a:rPr>
                <a:t>Quality</a:t>
              </a:r>
              <a:r>
                <a:rPr kumimoji="1" lang="fr-BE" sz="1333" b="0" i="0" u="none" strike="noStrike" kern="0" cap="none" spc="0" normalizeH="0" baseline="0" noProof="0" dirty="0">
                  <a:ln>
                    <a:noFill/>
                  </a:ln>
                  <a:solidFill>
                    <a:srgbClr val="001F6B"/>
                  </a:solidFill>
                  <a:effectLst/>
                  <a:uLnTx/>
                  <a:uFillTx/>
                  <a:latin typeface="Arial" panose="020B0604020202020204"/>
                  <a:ea typeface="+mn-ea"/>
                  <a:cs typeface="+mn-cs"/>
                </a:rPr>
                <a:t> &amp; </a:t>
              </a:r>
              <a:r>
                <a:rPr kumimoji="1" lang="fr-BE" sz="1333" b="0" i="0" u="none" strike="noStrike" kern="0" cap="none" spc="0" normalizeH="0" baseline="0" noProof="0" dirty="0" err="1">
                  <a:ln>
                    <a:noFill/>
                  </a:ln>
                  <a:solidFill>
                    <a:srgbClr val="001F6B"/>
                  </a:solidFill>
                  <a:effectLst/>
                  <a:uLnTx/>
                  <a:uFillTx/>
                  <a:latin typeface="Arial" panose="020B0604020202020204"/>
                  <a:ea typeface="+mn-ea"/>
                  <a:cs typeface="+mn-cs"/>
                </a:rPr>
                <a:t>Developement</a:t>
              </a:r>
              <a:r>
                <a:rPr kumimoji="1" lang="fr-BE" sz="1333" kern="0" dirty="0">
                  <a:solidFill>
                    <a:srgbClr val="001F6B"/>
                  </a:solidFill>
                  <a:latin typeface="Arial" panose="020B0604020202020204"/>
                </a:rPr>
                <a:t>)</a:t>
              </a:r>
              <a:r>
                <a:rPr kumimoji="1" lang="fr-BE" sz="1333" b="0" i="0" u="none" strike="noStrike" kern="0" cap="none" spc="0" normalizeH="0" baseline="0" noProof="0" dirty="0">
                  <a:ln>
                    <a:noFill/>
                  </a:ln>
                  <a:solidFill>
                    <a:srgbClr val="001F6B"/>
                  </a:solidFill>
                  <a:effectLst/>
                  <a:uLnTx/>
                  <a:uFillTx/>
                  <a:latin typeface="Arial" panose="020B0604020202020204"/>
                  <a:ea typeface="+mn-ea"/>
                  <a:cs typeface="+mn-cs"/>
                </a:rPr>
                <a:t> </a:t>
              </a:r>
            </a:p>
          </p:txBody>
        </p:sp>
      </p:grpSp>
      <p:pic>
        <p:nvPicPr>
          <p:cNvPr id="9" name="Image 8">
            <a:extLst>
              <a:ext uri="{FF2B5EF4-FFF2-40B4-BE49-F238E27FC236}">
                <a16:creationId xmlns:a16="http://schemas.microsoft.com/office/drawing/2014/main" id="{F84F712E-D68D-5982-BAAA-DF9DE3294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3354" y="1425534"/>
            <a:ext cx="4500947" cy="2764501"/>
          </a:xfrm>
          <a:prstGeom prst="rect">
            <a:avLst/>
          </a:prstGeom>
        </p:spPr>
      </p:pic>
      <p:sp>
        <p:nvSpPr>
          <p:cNvPr id="2" name="Title 1"/>
          <p:cNvSpPr>
            <a:spLocks noGrp="1"/>
          </p:cNvSpPr>
          <p:nvPr>
            <p:ph type="title"/>
          </p:nvPr>
        </p:nvSpPr>
        <p:spPr>
          <a:xfrm>
            <a:off x="246184" y="205869"/>
            <a:ext cx="11686735" cy="697537"/>
          </a:xfrm>
        </p:spPr>
        <p:txBody>
          <a:bodyPr>
            <a:noAutofit/>
          </a:bodyPr>
          <a:lstStyle/>
          <a:p>
            <a:r>
              <a:rPr lang="fr-FR" sz="2400" b="1" dirty="0">
                <a:solidFill>
                  <a:schemeClr val="bg1"/>
                </a:solidFill>
              </a:rPr>
              <a:t>The ALS </a:t>
            </a:r>
            <a:r>
              <a:rPr lang="fr-FR" sz="2400" b="1" dirty="0" err="1">
                <a:solidFill>
                  <a:schemeClr val="bg1"/>
                </a:solidFill>
              </a:rPr>
              <a:t>Furnace</a:t>
            </a:r>
            <a:r>
              <a:rPr lang="fr-FR" sz="2400" b="1" dirty="0">
                <a:solidFill>
                  <a:schemeClr val="bg1"/>
                </a:solidFill>
              </a:rPr>
              <a:t> </a:t>
            </a:r>
            <a:r>
              <a:rPr lang="en-US" sz="2400" b="1" dirty="0">
                <a:solidFill>
                  <a:schemeClr val="bg1"/>
                </a:solidFill>
                <a:latin typeface="Aptos (Corps)"/>
                <a:ea typeface="Inter" pitchFamily="34" charset="-122"/>
                <a:cs typeface="Inter" pitchFamily="34" charset="-120"/>
              </a:rPr>
              <a:t>Automated Anomaly Detection</a:t>
            </a:r>
            <a:endParaRPr lang="fr-FR" sz="2400" b="1" dirty="0">
              <a:solidFill>
                <a:schemeClr val="bg1"/>
              </a:solidFill>
              <a:latin typeface="Aptos (Corps)"/>
            </a:endParaRPr>
          </a:p>
        </p:txBody>
      </p:sp>
      <p:pic>
        <p:nvPicPr>
          <p:cNvPr id="4" name="Image 3">
            <a:extLst>
              <a:ext uri="{FF2B5EF4-FFF2-40B4-BE49-F238E27FC236}">
                <a16:creationId xmlns:a16="http://schemas.microsoft.com/office/drawing/2014/main" id="{E73FD008-2A04-8C4F-5D30-CB580CAFB489}"/>
              </a:ext>
            </a:extLst>
          </p:cNvPr>
          <p:cNvPicPr>
            <a:picLocks noChangeAspect="1"/>
          </p:cNvPicPr>
          <p:nvPr/>
        </p:nvPicPr>
        <p:blipFill>
          <a:blip r:embed="rId4"/>
          <a:stretch>
            <a:fillRect/>
          </a:stretch>
        </p:blipFill>
        <p:spPr>
          <a:xfrm>
            <a:off x="100360" y="6436639"/>
            <a:ext cx="1096360" cy="430983"/>
          </a:xfrm>
          <a:prstGeom prst="rect">
            <a:avLst/>
          </a:prstGeom>
        </p:spPr>
      </p:pic>
      <p:sp>
        <p:nvSpPr>
          <p:cNvPr id="38" name="Rectangle 7">
            <a:extLst>
              <a:ext uri="{FF2B5EF4-FFF2-40B4-BE49-F238E27FC236}">
                <a16:creationId xmlns:a16="http://schemas.microsoft.com/office/drawing/2014/main" id="{36B4B737-600F-1B0F-9497-FA12DEF2BCF8}"/>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MA"/>
          </a:p>
        </p:txBody>
      </p:sp>
      <p:pic>
        <p:nvPicPr>
          <p:cNvPr id="55" name="Image 1" descr="preencoded.png">
            <a:extLst>
              <a:ext uri="{FF2B5EF4-FFF2-40B4-BE49-F238E27FC236}">
                <a16:creationId xmlns:a16="http://schemas.microsoft.com/office/drawing/2014/main" id="{00487012-A825-92DF-75B2-ECBC729D69A0}"/>
              </a:ext>
            </a:extLst>
          </p:cNvPr>
          <p:cNvPicPr>
            <a:picLocks noChangeAspect="1"/>
          </p:cNvPicPr>
          <p:nvPr/>
        </p:nvPicPr>
        <p:blipFill>
          <a:blip r:embed="rId5"/>
          <a:srcRect b="10665"/>
          <a:stretch>
            <a:fillRect/>
          </a:stretch>
        </p:blipFill>
        <p:spPr>
          <a:xfrm>
            <a:off x="5146581" y="1541021"/>
            <a:ext cx="2515721" cy="1446857"/>
          </a:xfrm>
          <a:prstGeom prst="rect">
            <a:avLst/>
          </a:prstGeom>
        </p:spPr>
      </p:pic>
      <p:pic>
        <p:nvPicPr>
          <p:cNvPr id="60" name="Image 59">
            <a:extLst>
              <a:ext uri="{FF2B5EF4-FFF2-40B4-BE49-F238E27FC236}">
                <a16:creationId xmlns:a16="http://schemas.microsoft.com/office/drawing/2014/main" id="{D2DA0D5A-D620-582A-FDB3-BDF5A11F7969}"/>
              </a:ext>
            </a:extLst>
          </p:cNvPr>
          <p:cNvPicPr>
            <a:picLocks noChangeAspect="1"/>
          </p:cNvPicPr>
          <p:nvPr/>
        </p:nvPicPr>
        <p:blipFill>
          <a:blip r:embed="rId6"/>
          <a:stretch>
            <a:fillRect/>
          </a:stretch>
        </p:blipFill>
        <p:spPr>
          <a:xfrm>
            <a:off x="5281907" y="3022020"/>
            <a:ext cx="2382766" cy="2050685"/>
          </a:xfrm>
          <a:prstGeom prst="rect">
            <a:avLst/>
          </a:prstGeom>
        </p:spPr>
      </p:pic>
      <p:pic>
        <p:nvPicPr>
          <p:cNvPr id="58" name="Image 1" descr="preencoded.png">
            <a:extLst>
              <a:ext uri="{FF2B5EF4-FFF2-40B4-BE49-F238E27FC236}">
                <a16:creationId xmlns:a16="http://schemas.microsoft.com/office/drawing/2014/main" id="{5B287CFD-829D-8E7C-4EC7-77B2438BFAF9}"/>
              </a:ext>
            </a:extLst>
          </p:cNvPr>
          <p:cNvPicPr>
            <a:picLocks noChangeAspect="1"/>
          </p:cNvPicPr>
          <p:nvPr/>
        </p:nvPicPr>
        <p:blipFill>
          <a:blip r:embed="rId7"/>
          <a:stretch>
            <a:fillRect/>
          </a:stretch>
        </p:blipFill>
        <p:spPr>
          <a:xfrm>
            <a:off x="8994911" y="4073380"/>
            <a:ext cx="2445786" cy="1630524"/>
          </a:xfrm>
          <a:prstGeom prst="rect">
            <a:avLst/>
          </a:prstGeom>
        </p:spPr>
      </p:pic>
      <p:pic>
        <p:nvPicPr>
          <p:cNvPr id="56" name="Image 55" descr="Une image contenant capture d’écran, Logiciel multimédia, Logiciel de graphisme, Tracé&#10;&#10;Le contenu généré par l’IA peut être incorrect.">
            <a:extLst>
              <a:ext uri="{FF2B5EF4-FFF2-40B4-BE49-F238E27FC236}">
                <a16:creationId xmlns:a16="http://schemas.microsoft.com/office/drawing/2014/main" id="{0440A80D-F7F4-BC47-743B-DF5D1A33B602}"/>
              </a:ext>
            </a:extLst>
          </p:cNvPr>
          <p:cNvPicPr>
            <a:picLocks noChangeAspect="1"/>
          </p:cNvPicPr>
          <p:nvPr/>
        </p:nvPicPr>
        <p:blipFill>
          <a:blip r:embed="rId8">
            <a:extLst>
              <a:ext uri="{28A0092B-C50C-407E-A947-70E740481C1C}">
                <a14:useLocalDpi xmlns:a14="http://schemas.microsoft.com/office/drawing/2010/main" val="0"/>
              </a:ext>
            </a:extLst>
          </a:blip>
          <a:srcRect l="4551" t="4944" r="4758" b="5210"/>
          <a:stretch>
            <a:fillRect/>
          </a:stretch>
        </p:blipFill>
        <p:spPr>
          <a:xfrm>
            <a:off x="7021889" y="2849376"/>
            <a:ext cx="1263532" cy="656629"/>
          </a:xfrm>
          <a:prstGeom prst="rect">
            <a:avLst/>
          </a:prstGeom>
        </p:spPr>
      </p:pic>
    </p:spTree>
    <p:extLst>
      <p:ext uri="{BB962C8B-B14F-4D97-AF65-F5344CB8AC3E}">
        <p14:creationId xmlns:p14="http://schemas.microsoft.com/office/powerpoint/2010/main" val="3596478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9D7542D-5389-478B-3681-500059BB36E2}"/>
              </a:ext>
            </a:extLst>
          </p:cNvPr>
          <p:cNvSpPr txBox="1">
            <a:spLocks/>
          </p:cNvSpPr>
          <p:nvPr/>
        </p:nvSpPr>
        <p:spPr bwMode="white">
          <a:xfrm>
            <a:off x="246184" y="205869"/>
            <a:ext cx="11686735" cy="6975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n-lt"/>
                <a:ea typeface="+mj-ea"/>
                <a:cs typeface="+mj-cs"/>
              </a:defRPr>
            </a:lvl1pPr>
          </a:lstStyle>
          <a:p>
            <a:r>
              <a:rPr lang="en-US" sz="2400" b="1" dirty="0">
                <a:solidFill>
                  <a:schemeClr val="bg1"/>
                </a:solidFill>
                <a:latin typeface="+mj-lt"/>
                <a:ea typeface="Inter" pitchFamily="34" charset="-122"/>
                <a:cs typeface="Inter" pitchFamily="34" charset="-120"/>
              </a:rPr>
              <a:t>First Approach: Linear Sequence Analysis (Failed)</a:t>
            </a:r>
            <a:endParaRPr lang="en-US" sz="2400" dirty="0">
              <a:solidFill>
                <a:schemeClr val="bg1"/>
              </a:solidFill>
              <a:latin typeface="+mj-lt"/>
            </a:endParaRPr>
          </a:p>
        </p:txBody>
      </p:sp>
      <p:pic>
        <p:nvPicPr>
          <p:cNvPr id="26" name="Image 25">
            <a:extLst>
              <a:ext uri="{FF2B5EF4-FFF2-40B4-BE49-F238E27FC236}">
                <a16:creationId xmlns:a16="http://schemas.microsoft.com/office/drawing/2014/main" id="{D4C78F87-5022-74EF-E567-EC34AD546E8D}"/>
              </a:ext>
            </a:extLst>
          </p:cNvPr>
          <p:cNvPicPr>
            <a:picLocks noChangeAspect="1"/>
          </p:cNvPicPr>
          <p:nvPr/>
        </p:nvPicPr>
        <p:blipFill>
          <a:blip r:embed="rId2"/>
          <a:stretch>
            <a:fillRect/>
          </a:stretch>
        </p:blipFill>
        <p:spPr>
          <a:xfrm>
            <a:off x="100360" y="6436639"/>
            <a:ext cx="1096360" cy="430983"/>
          </a:xfrm>
          <a:prstGeom prst="rect">
            <a:avLst/>
          </a:prstGeom>
        </p:spPr>
      </p:pic>
      <p:sp>
        <p:nvSpPr>
          <p:cNvPr id="6" name="ZoneTexte 5">
            <a:extLst>
              <a:ext uri="{FF2B5EF4-FFF2-40B4-BE49-F238E27FC236}">
                <a16:creationId xmlns:a16="http://schemas.microsoft.com/office/drawing/2014/main" id="{52948F92-C43F-D8D1-C8D2-25E7EEF8F163}"/>
              </a:ext>
            </a:extLst>
          </p:cNvPr>
          <p:cNvSpPr txBox="1"/>
          <p:nvPr/>
        </p:nvSpPr>
        <p:spPr>
          <a:xfrm>
            <a:off x="246184" y="1114914"/>
            <a:ext cx="6096000" cy="646331"/>
          </a:xfrm>
          <a:prstGeom prst="rect">
            <a:avLst/>
          </a:prstGeom>
          <a:noFill/>
        </p:spPr>
        <p:txBody>
          <a:bodyPr wrap="square">
            <a:spAutoFit/>
          </a:bodyPr>
          <a:lstStyle/>
          <a:p>
            <a:pPr marL="0" indent="0">
              <a:buNone/>
            </a:pPr>
            <a:r>
              <a:rPr lang="en-US" sz="1800" dirty="0">
                <a:solidFill>
                  <a:schemeClr val="tx1">
                    <a:lumMod val="95000"/>
                    <a:lumOff val="5000"/>
                  </a:schemeClr>
                </a:solidFill>
                <a:latin typeface="Noto Sans" pitchFamily="34" charset="0"/>
                <a:ea typeface="Noto Sans" pitchFamily="34" charset="-122"/>
                <a:cs typeface="Noto Sans" pitchFamily="34" charset="-120"/>
              </a:rPr>
              <a:t>Our initial approach involved analyzing transitions between sequence steps in a linear way.</a:t>
            </a:r>
            <a:endParaRPr lang="en-US" sz="1800" dirty="0">
              <a:solidFill>
                <a:schemeClr val="tx1">
                  <a:lumMod val="95000"/>
                  <a:lumOff val="5000"/>
                </a:schemeClr>
              </a:solidFill>
            </a:endParaRPr>
          </a:p>
        </p:txBody>
      </p:sp>
      <p:pic>
        <p:nvPicPr>
          <p:cNvPr id="10" name="Image 9" descr="Une image contenant texte, capture d’écran, diagramme, Tracé&#10;&#10;Le contenu généré par l’IA peut être incorrect.">
            <a:extLst>
              <a:ext uri="{FF2B5EF4-FFF2-40B4-BE49-F238E27FC236}">
                <a16:creationId xmlns:a16="http://schemas.microsoft.com/office/drawing/2014/main" id="{BA50B526-9FB2-BF0B-D56E-83AD9512B5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0320" y="4211082"/>
            <a:ext cx="3780976" cy="2122013"/>
          </a:xfrm>
          <a:prstGeom prst="rect">
            <a:avLst/>
          </a:prstGeom>
        </p:spPr>
      </p:pic>
      <p:pic>
        <p:nvPicPr>
          <p:cNvPr id="12" name="Image 11" descr="Une image contenant capture d’écran, Logiciel multimédia, Logiciel de graphisme, Tracé&#10;&#10;Le contenu généré par l’IA peut être incorrect.">
            <a:extLst>
              <a:ext uri="{FF2B5EF4-FFF2-40B4-BE49-F238E27FC236}">
                <a16:creationId xmlns:a16="http://schemas.microsoft.com/office/drawing/2014/main" id="{C600534A-35A4-315D-DB49-38A4211F0C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184" y="1853578"/>
            <a:ext cx="4267018" cy="2238328"/>
          </a:xfrm>
          <a:prstGeom prst="rect">
            <a:avLst/>
          </a:prstGeom>
        </p:spPr>
      </p:pic>
      <p:pic>
        <p:nvPicPr>
          <p:cNvPr id="17" name="Image 16" descr="Une image contenant texte, capture d’écran, Police, ligne&#10;&#10;Le contenu généré par l’IA peut être incorrect.">
            <a:extLst>
              <a:ext uri="{FF2B5EF4-FFF2-40B4-BE49-F238E27FC236}">
                <a16:creationId xmlns:a16="http://schemas.microsoft.com/office/drawing/2014/main" id="{0018903C-A75F-654D-A4AE-786A7EB5C3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8445" y="1847566"/>
            <a:ext cx="4689235" cy="2249196"/>
          </a:xfrm>
          <a:prstGeom prst="rect">
            <a:avLst/>
          </a:prstGeom>
        </p:spPr>
      </p:pic>
      <p:sp>
        <p:nvSpPr>
          <p:cNvPr id="21" name="ZoneTexte 20">
            <a:extLst>
              <a:ext uri="{FF2B5EF4-FFF2-40B4-BE49-F238E27FC236}">
                <a16:creationId xmlns:a16="http://schemas.microsoft.com/office/drawing/2014/main" id="{8CD3F022-FAA2-75D5-EAF6-CC87BEA1FF7B}"/>
              </a:ext>
            </a:extLst>
          </p:cNvPr>
          <p:cNvSpPr txBox="1"/>
          <p:nvPr/>
        </p:nvSpPr>
        <p:spPr>
          <a:xfrm>
            <a:off x="246184" y="4408379"/>
            <a:ext cx="2146875" cy="523220"/>
          </a:xfrm>
          <a:prstGeom prst="rect">
            <a:avLst/>
          </a:prstGeom>
          <a:noFill/>
        </p:spPr>
        <p:txBody>
          <a:bodyPr wrap="square">
            <a:spAutoFit/>
          </a:bodyPr>
          <a:lstStyle/>
          <a:p>
            <a:pPr marL="0" indent="0" algn="ctr">
              <a:buNone/>
            </a:pPr>
            <a:r>
              <a:rPr lang="en-US" sz="2800" b="1" dirty="0">
                <a:solidFill>
                  <a:srgbClr val="0B3041"/>
                </a:solidFill>
                <a:latin typeface="72 Condensed" panose="020B0506030000000003"/>
                <a:ea typeface="Inter" pitchFamily="34" charset="-122"/>
                <a:cs typeface="Inter" pitchFamily="34" charset="-120"/>
              </a:rPr>
              <a:t>Why It Failed</a:t>
            </a:r>
            <a:endParaRPr lang="en-US" sz="2800" dirty="0">
              <a:solidFill>
                <a:srgbClr val="0B3041"/>
              </a:solidFill>
              <a:latin typeface="72 Condensed" panose="020B0506030000000003"/>
            </a:endParaRPr>
          </a:p>
        </p:txBody>
      </p:sp>
      <p:sp>
        <p:nvSpPr>
          <p:cNvPr id="23" name="ZoneTexte 22">
            <a:extLst>
              <a:ext uri="{FF2B5EF4-FFF2-40B4-BE49-F238E27FC236}">
                <a16:creationId xmlns:a16="http://schemas.microsoft.com/office/drawing/2014/main" id="{CDCE07E7-510F-36C3-3917-60DC3B389BA6}"/>
              </a:ext>
            </a:extLst>
          </p:cNvPr>
          <p:cNvSpPr txBox="1"/>
          <p:nvPr/>
        </p:nvSpPr>
        <p:spPr>
          <a:xfrm>
            <a:off x="246184" y="5023932"/>
            <a:ext cx="6096000" cy="923330"/>
          </a:xfrm>
          <a:prstGeom prst="rect">
            <a:avLst/>
          </a:prstGeom>
          <a:noFill/>
        </p:spPr>
        <p:txBody>
          <a:bodyPr wrap="square">
            <a:spAutoFit/>
          </a:bodyPr>
          <a:lstStyle/>
          <a:p>
            <a:pPr marL="0" indent="0">
              <a:buNone/>
            </a:pPr>
            <a:r>
              <a:rPr lang="en-US" sz="1800" dirty="0">
                <a:latin typeface="Noto Sans" pitchFamily="34" charset="0"/>
                <a:ea typeface="Noto Sans" pitchFamily="34" charset="-122"/>
                <a:cs typeface="Noto Sans" pitchFamily="34" charset="-120"/>
              </a:rPr>
              <a:t>Model too simplistic for a complex system, resulting in numerous false positives and failure to detect real faults.</a:t>
            </a:r>
            <a:endParaRPr lang="en-US" sz="1800" dirty="0"/>
          </a:p>
        </p:txBody>
      </p:sp>
    </p:spTree>
    <p:extLst>
      <p:ext uri="{BB962C8B-B14F-4D97-AF65-F5344CB8AC3E}">
        <p14:creationId xmlns:p14="http://schemas.microsoft.com/office/powerpoint/2010/main" val="103068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9D7542D-5389-478B-3681-500059BB36E2}"/>
              </a:ext>
            </a:extLst>
          </p:cNvPr>
          <p:cNvSpPr txBox="1">
            <a:spLocks/>
          </p:cNvSpPr>
          <p:nvPr/>
        </p:nvSpPr>
        <p:spPr bwMode="white">
          <a:xfrm>
            <a:off x="246184" y="205869"/>
            <a:ext cx="11686735" cy="6975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n-lt"/>
                <a:ea typeface="+mj-ea"/>
                <a:cs typeface="+mj-cs"/>
              </a:defRPr>
            </a:lvl1pPr>
          </a:lstStyle>
          <a:p>
            <a:r>
              <a:rPr lang="en-US" sz="2400" b="1" dirty="0">
                <a:solidFill>
                  <a:schemeClr val="bg1"/>
                </a:solidFill>
                <a:latin typeface="+mj-lt"/>
              </a:rPr>
              <a:t>Current Approach: Data-Driven </a:t>
            </a:r>
            <a:r>
              <a:rPr lang="en-US" sz="2200" b="1" dirty="0">
                <a:solidFill>
                  <a:schemeClr val="bg1"/>
                </a:solidFill>
                <a:latin typeface="+mj-lt"/>
              </a:rPr>
              <a:t>Sequence</a:t>
            </a:r>
            <a:r>
              <a:rPr lang="en-US" sz="2400" b="1" dirty="0">
                <a:solidFill>
                  <a:schemeClr val="bg1"/>
                </a:solidFill>
                <a:latin typeface="+mj-lt"/>
              </a:rPr>
              <a:t> </a:t>
            </a:r>
            <a:r>
              <a:rPr lang="en-US" sz="2400" b="1" dirty="0" err="1">
                <a:solidFill>
                  <a:schemeClr val="bg1"/>
                </a:solidFill>
                <a:latin typeface="+mj-lt"/>
              </a:rPr>
              <a:t>Dependencies_</a:t>
            </a:r>
            <a:r>
              <a:rPr lang="en-US" sz="2400" b="1" dirty="0" err="1">
                <a:solidFill>
                  <a:schemeClr val="bg1"/>
                </a:solidFill>
                <a:latin typeface="+mj-lt"/>
                <a:ea typeface="Noto Sans" pitchFamily="34" charset="-122"/>
                <a:cs typeface="Noto Sans" pitchFamily="34" charset="-120"/>
              </a:rPr>
              <a:t>pilot</a:t>
            </a:r>
            <a:r>
              <a:rPr lang="en-US" sz="2400" b="1" dirty="0">
                <a:solidFill>
                  <a:schemeClr val="bg1"/>
                </a:solidFill>
                <a:latin typeface="+mj-lt"/>
                <a:ea typeface="Noto Sans" pitchFamily="34" charset="-122"/>
                <a:cs typeface="Noto Sans" pitchFamily="34" charset="-120"/>
              </a:rPr>
              <a:t> phase cv104</a:t>
            </a:r>
            <a:endParaRPr lang="en-US" sz="2400" b="1" dirty="0">
              <a:solidFill>
                <a:schemeClr val="bg1"/>
              </a:solidFill>
              <a:latin typeface="+mj-lt"/>
            </a:endParaRPr>
          </a:p>
        </p:txBody>
      </p:sp>
      <p:pic>
        <p:nvPicPr>
          <p:cNvPr id="2" name="Image 1">
            <a:extLst>
              <a:ext uri="{FF2B5EF4-FFF2-40B4-BE49-F238E27FC236}">
                <a16:creationId xmlns:a16="http://schemas.microsoft.com/office/drawing/2014/main" id="{8C0B992B-4BAD-AF14-97AF-0F4B793E9BC0}"/>
              </a:ext>
            </a:extLst>
          </p:cNvPr>
          <p:cNvPicPr>
            <a:picLocks noChangeAspect="1"/>
          </p:cNvPicPr>
          <p:nvPr/>
        </p:nvPicPr>
        <p:blipFill>
          <a:blip r:embed="rId2"/>
          <a:stretch>
            <a:fillRect/>
          </a:stretch>
        </p:blipFill>
        <p:spPr>
          <a:xfrm>
            <a:off x="100360" y="6436639"/>
            <a:ext cx="1096360" cy="430983"/>
          </a:xfrm>
          <a:prstGeom prst="rect">
            <a:avLst/>
          </a:prstGeom>
        </p:spPr>
      </p:pic>
      <p:sp>
        <p:nvSpPr>
          <p:cNvPr id="18" name="ZoneTexte 17">
            <a:extLst>
              <a:ext uri="{FF2B5EF4-FFF2-40B4-BE49-F238E27FC236}">
                <a16:creationId xmlns:a16="http://schemas.microsoft.com/office/drawing/2014/main" id="{4B3645AB-0A4F-E2C2-E2F8-A89ACFC25817}"/>
              </a:ext>
            </a:extLst>
          </p:cNvPr>
          <p:cNvSpPr txBox="1"/>
          <p:nvPr/>
        </p:nvSpPr>
        <p:spPr>
          <a:xfrm>
            <a:off x="246184" y="1419714"/>
            <a:ext cx="6096000" cy="923330"/>
          </a:xfrm>
          <a:prstGeom prst="rect">
            <a:avLst/>
          </a:prstGeom>
          <a:noFill/>
        </p:spPr>
        <p:txBody>
          <a:bodyPr wrap="square">
            <a:spAutoFit/>
          </a:bodyPr>
          <a:lstStyle/>
          <a:p>
            <a:pPr marL="0" indent="0">
              <a:buNone/>
            </a:pPr>
            <a:r>
              <a:rPr lang="en-US" sz="1800" dirty="0">
                <a:solidFill>
                  <a:schemeClr val="tx1">
                    <a:lumMod val="95000"/>
                    <a:lumOff val="5000"/>
                  </a:schemeClr>
                </a:solidFill>
                <a:latin typeface="Noto Sans" pitchFamily="34" charset="0"/>
                <a:ea typeface="Noto Sans" pitchFamily="34" charset="-122"/>
                <a:cs typeface="Noto Sans" pitchFamily="34" charset="-120"/>
              </a:rPr>
              <a:t>We shifted our focus to Conveyor 104 as a pilot case, defining all sequences in JSON format with specific conditions.</a:t>
            </a:r>
          </a:p>
        </p:txBody>
      </p:sp>
      <p:pic>
        <p:nvPicPr>
          <p:cNvPr id="22" name="Image 21">
            <a:extLst>
              <a:ext uri="{FF2B5EF4-FFF2-40B4-BE49-F238E27FC236}">
                <a16:creationId xmlns:a16="http://schemas.microsoft.com/office/drawing/2014/main" id="{7B7E476E-1944-190F-CCAD-754F6CF391B1}"/>
              </a:ext>
            </a:extLst>
          </p:cNvPr>
          <p:cNvPicPr>
            <a:picLocks noChangeAspect="1"/>
          </p:cNvPicPr>
          <p:nvPr/>
        </p:nvPicPr>
        <p:blipFill>
          <a:blip r:embed="rId3"/>
          <a:stretch>
            <a:fillRect/>
          </a:stretch>
        </p:blipFill>
        <p:spPr>
          <a:xfrm>
            <a:off x="7447281" y="1196193"/>
            <a:ext cx="4287520" cy="4839649"/>
          </a:xfrm>
          <a:prstGeom prst="rect">
            <a:avLst/>
          </a:prstGeom>
        </p:spPr>
      </p:pic>
      <p:pic>
        <p:nvPicPr>
          <p:cNvPr id="26" name="Image 25" descr="Une image contenant texte, Police, capture d’écran, diagramme">
            <a:extLst>
              <a:ext uri="{FF2B5EF4-FFF2-40B4-BE49-F238E27FC236}">
                <a16:creationId xmlns:a16="http://schemas.microsoft.com/office/drawing/2014/main" id="{E39D8F4E-74D3-9095-FDDB-9979084872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540" y="2545896"/>
            <a:ext cx="4819112" cy="3211281"/>
          </a:xfrm>
          <a:prstGeom prst="rect">
            <a:avLst/>
          </a:prstGeom>
        </p:spPr>
      </p:pic>
    </p:spTree>
    <p:extLst>
      <p:ext uri="{BB962C8B-B14F-4D97-AF65-F5344CB8AC3E}">
        <p14:creationId xmlns:p14="http://schemas.microsoft.com/office/powerpoint/2010/main" val="217476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9D7542D-5389-478B-3681-500059BB36E2}"/>
              </a:ext>
            </a:extLst>
          </p:cNvPr>
          <p:cNvSpPr txBox="1">
            <a:spLocks/>
          </p:cNvSpPr>
          <p:nvPr/>
        </p:nvSpPr>
        <p:spPr bwMode="white">
          <a:xfrm>
            <a:off x="246184" y="205869"/>
            <a:ext cx="11686735" cy="6975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n-lt"/>
                <a:ea typeface="+mj-ea"/>
                <a:cs typeface="+mj-cs"/>
              </a:defRPr>
            </a:lvl1pPr>
          </a:lstStyle>
          <a:p>
            <a:r>
              <a:rPr lang="en-US" sz="2400" b="1" dirty="0">
                <a:solidFill>
                  <a:schemeClr val="bg1"/>
                </a:solidFill>
                <a:latin typeface="+mj-lt"/>
                <a:ea typeface="Roboto" pitchFamily="34" charset="-122"/>
                <a:cs typeface="Roboto" pitchFamily="34" charset="-120"/>
              </a:rPr>
              <a:t>Leveraging</a:t>
            </a:r>
            <a:r>
              <a:rPr lang="en-US" sz="2400" b="1" dirty="0">
                <a:solidFill>
                  <a:schemeClr val="bg1"/>
                </a:solidFill>
                <a:latin typeface="Roboto" pitchFamily="34" charset="0"/>
                <a:ea typeface="Roboto" pitchFamily="34" charset="-122"/>
                <a:cs typeface="Roboto" pitchFamily="34" charset="-120"/>
              </a:rPr>
              <a:t> Historical Data for Anomaly Detection</a:t>
            </a:r>
            <a:endParaRPr lang="en-US" sz="2400" dirty="0">
              <a:solidFill>
                <a:schemeClr val="bg1"/>
              </a:solidFill>
            </a:endParaRPr>
          </a:p>
        </p:txBody>
      </p:sp>
      <p:pic>
        <p:nvPicPr>
          <p:cNvPr id="16" name="Image 15">
            <a:extLst>
              <a:ext uri="{FF2B5EF4-FFF2-40B4-BE49-F238E27FC236}">
                <a16:creationId xmlns:a16="http://schemas.microsoft.com/office/drawing/2014/main" id="{D471FC63-28A5-928C-9D26-51690F6DA4DA}"/>
              </a:ext>
            </a:extLst>
          </p:cNvPr>
          <p:cNvPicPr>
            <a:picLocks noChangeAspect="1"/>
          </p:cNvPicPr>
          <p:nvPr/>
        </p:nvPicPr>
        <p:blipFill>
          <a:blip r:embed="rId2"/>
          <a:stretch>
            <a:fillRect/>
          </a:stretch>
        </p:blipFill>
        <p:spPr>
          <a:xfrm>
            <a:off x="0" y="6436639"/>
            <a:ext cx="1096360" cy="430983"/>
          </a:xfrm>
          <a:prstGeom prst="rect">
            <a:avLst/>
          </a:prstGeom>
        </p:spPr>
      </p:pic>
      <p:sp>
        <p:nvSpPr>
          <p:cNvPr id="4" name="Shape 1">
            <a:extLst>
              <a:ext uri="{FF2B5EF4-FFF2-40B4-BE49-F238E27FC236}">
                <a16:creationId xmlns:a16="http://schemas.microsoft.com/office/drawing/2014/main" id="{DDDD0341-15BF-8858-75A4-982D9755CBBF}"/>
              </a:ext>
            </a:extLst>
          </p:cNvPr>
          <p:cNvSpPr/>
          <p:nvPr/>
        </p:nvSpPr>
        <p:spPr>
          <a:xfrm>
            <a:off x="246184" y="1428173"/>
            <a:ext cx="3971925" cy="857250"/>
          </a:xfrm>
          <a:prstGeom prst="rect">
            <a:avLst/>
          </a:prstGeom>
          <a:solidFill>
            <a:srgbClr val="1A365D">
              <a:alpha val="10000"/>
            </a:srgbClr>
          </a:solidFill>
          <a:ln/>
        </p:spPr>
        <p:txBody>
          <a:bodyPr/>
          <a:lstStyle/>
          <a:p>
            <a:endParaRPr lang="fr-MA"/>
          </a:p>
        </p:txBody>
      </p:sp>
      <p:sp>
        <p:nvSpPr>
          <p:cNvPr id="6" name="Shape 2"/>
          <p:cNvSpPr/>
          <p:nvPr/>
        </p:nvSpPr>
        <p:spPr>
          <a:xfrm>
            <a:off x="246184" y="1428173"/>
            <a:ext cx="28575" cy="857250"/>
          </a:xfrm>
          <a:prstGeom prst="rect">
            <a:avLst/>
          </a:prstGeom>
          <a:solidFill>
            <a:srgbClr val="001F6B"/>
          </a:solidFill>
          <a:ln/>
        </p:spPr>
        <p:txBody>
          <a:bodyPr/>
          <a:lstStyle/>
          <a:p>
            <a:endParaRPr lang="fr-MA"/>
          </a:p>
        </p:txBody>
      </p:sp>
      <p:sp>
        <p:nvSpPr>
          <p:cNvPr id="8" name="ZoneTexte 7">
            <a:extLst>
              <a:ext uri="{FF2B5EF4-FFF2-40B4-BE49-F238E27FC236}">
                <a16:creationId xmlns:a16="http://schemas.microsoft.com/office/drawing/2014/main" id="{7F4A0346-B352-88AD-FBB8-247C132FAFC2}"/>
              </a:ext>
            </a:extLst>
          </p:cNvPr>
          <p:cNvSpPr txBox="1"/>
          <p:nvPr/>
        </p:nvSpPr>
        <p:spPr>
          <a:xfrm>
            <a:off x="274759" y="1510549"/>
            <a:ext cx="3777053" cy="692497"/>
          </a:xfrm>
          <a:prstGeom prst="rect">
            <a:avLst/>
          </a:prstGeom>
          <a:noFill/>
        </p:spPr>
        <p:txBody>
          <a:bodyPr wrap="square">
            <a:spAutoFit/>
          </a:bodyPr>
          <a:lstStyle/>
          <a:p>
            <a:pPr marL="0" indent="0">
              <a:buNone/>
            </a:pPr>
            <a:r>
              <a:rPr lang="en-US" sz="1300" dirty="0">
                <a:solidFill>
                  <a:srgbClr val="212529"/>
                </a:solidFill>
                <a:latin typeface="Noto Sans" pitchFamily="34" charset="0"/>
                <a:ea typeface="Noto Sans" pitchFamily="34" charset="-122"/>
                <a:cs typeface="Noto Sans" pitchFamily="34" charset="-120"/>
              </a:rPr>
              <a:t>We use Python to read historical data, apply the defined sequence logic, and detect if the correct sequences were active.</a:t>
            </a:r>
            <a:endParaRPr lang="en-US" sz="1300" dirty="0"/>
          </a:p>
        </p:txBody>
      </p:sp>
      <p:sp>
        <p:nvSpPr>
          <p:cNvPr id="13" name="ZoneTexte 12">
            <a:extLst>
              <a:ext uri="{FF2B5EF4-FFF2-40B4-BE49-F238E27FC236}">
                <a16:creationId xmlns:a16="http://schemas.microsoft.com/office/drawing/2014/main" id="{2E7FC66D-4E78-DB94-E7EE-07EB36817A04}"/>
              </a:ext>
            </a:extLst>
          </p:cNvPr>
          <p:cNvSpPr txBox="1"/>
          <p:nvPr/>
        </p:nvSpPr>
        <p:spPr>
          <a:xfrm>
            <a:off x="246184" y="2372669"/>
            <a:ext cx="2802290" cy="369332"/>
          </a:xfrm>
          <a:prstGeom prst="rect">
            <a:avLst/>
          </a:prstGeom>
          <a:noFill/>
        </p:spPr>
        <p:txBody>
          <a:bodyPr wrap="square">
            <a:spAutoFit/>
          </a:bodyPr>
          <a:lstStyle/>
          <a:p>
            <a:pPr marL="0" indent="0">
              <a:buNone/>
            </a:pPr>
            <a:r>
              <a:rPr lang="en-US" sz="1800" b="1" dirty="0">
                <a:solidFill>
                  <a:srgbClr val="001F6B"/>
                </a:solidFill>
                <a:ea typeface="Roboto" pitchFamily="34" charset="-122"/>
                <a:cs typeface="Roboto" pitchFamily="34" charset="-120"/>
              </a:rPr>
              <a:t>Data Processing Pipeline</a:t>
            </a:r>
            <a:endParaRPr lang="en-US" sz="1800" dirty="0">
              <a:solidFill>
                <a:srgbClr val="001F6B"/>
              </a:solidFill>
            </a:endParaRPr>
          </a:p>
        </p:txBody>
      </p:sp>
      <p:sp>
        <p:nvSpPr>
          <p:cNvPr id="15" name="ZoneTexte 14">
            <a:extLst>
              <a:ext uri="{FF2B5EF4-FFF2-40B4-BE49-F238E27FC236}">
                <a16:creationId xmlns:a16="http://schemas.microsoft.com/office/drawing/2014/main" id="{55E908DC-9579-ECF7-5C71-056C44EEA801}"/>
              </a:ext>
            </a:extLst>
          </p:cNvPr>
          <p:cNvSpPr txBox="1"/>
          <p:nvPr/>
        </p:nvSpPr>
        <p:spPr>
          <a:xfrm>
            <a:off x="246184" y="2756035"/>
            <a:ext cx="5668349" cy="1708160"/>
          </a:xfrm>
          <a:prstGeom prst="rect">
            <a:avLst/>
          </a:prstGeom>
          <a:noFill/>
        </p:spPr>
        <p:txBody>
          <a:bodyPr wrap="square">
            <a:spAutoFit/>
          </a:bodyPr>
          <a:lstStyle/>
          <a:p>
            <a:pPr marL="171450" indent="-171450" algn="l">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Collect high-frequency time-series data from conveyor systems</a:t>
            </a:r>
          </a:p>
          <a:p>
            <a:pPr marL="171450" indent="-171450">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Clean and preprocess data (handling missing values, synchronizing timestamps)</a:t>
            </a:r>
          </a:p>
          <a:p>
            <a:pPr marL="171450" indent="-171450">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Apply sequence logic rules to identify normal vs. anomalous patterns</a:t>
            </a:r>
          </a:p>
          <a:p>
            <a:pPr marL="171450" indent="-171450">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Label data for supervised learning approaches</a:t>
            </a:r>
            <a:endParaRPr lang="en-US" sz="1500" dirty="0"/>
          </a:p>
        </p:txBody>
      </p:sp>
      <p:sp>
        <p:nvSpPr>
          <p:cNvPr id="19" name="Text 7">
            <a:extLst>
              <a:ext uri="{FF2B5EF4-FFF2-40B4-BE49-F238E27FC236}">
                <a16:creationId xmlns:a16="http://schemas.microsoft.com/office/drawing/2014/main" id="{980B7559-16BD-AD28-51E2-ECB2532A5FEC}"/>
              </a:ext>
            </a:extLst>
          </p:cNvPr>
          <p:cNvSpPr/>
          <p:nvPr/>
        </p:nvSpPr>
        <p:spPr>
          <a:xfrm>
            <a:off x="344410" y="3777214"/>
            <a:ext cx="3775472" cy="153888"/>
          </a:xfrm>
          <a:prstGeom prst="rect">
            <a:avLst/>
          </a:prstGeom>
          <a:noFill/>
          <a:ln/>
        </p:spPr>
        <p:txBody>
          <a:bodyPr wrap="square" lIns="0" tIns="0" rIns="0" bIns="0" rtlCol="0" anchor="ctr">
            <a:spAutoFit/>
          </a:bodyPr>
          <a:lstStyle/>
          <a:p>
            <a:pPr marL="0" indent="0" algn="l">
              <a:buNone/>
            </a:pPr>
            <a:endParaRPr lang="en-US" sz="1000" dirty="0"/>
          </a:p>
        </p:txBody>
      </p:sp>
      <p:sp>
        <p:nvSpPr>
          <p:cNvPr id="20" name="Text 8">
            <a:extLst>
              <a:ext uri="{FF2B5EF4-FFF2-40B4-BE49-F238E27FC236}">
                <a16:creationId xmlns:a16="http://schemas.microsoft.com/office/drawing/2014/main" id="{98251A4A-B867-9E31-0C20-A818CC341749}"/>
              </a:ext>
            </a:extLst>
          </p:cNvPr>
          <p:cNvSpPr/>
          <p:nvPr/>
        </p:nvSpPr>
        <p:spPr>
          <a:xfrm>
            <a:off x="344410" y="4205840"/>
            <a:ext cx="65" cy="153888"/>
          </a:xfrm>
          <a:prstGeom prst="rect">
            <a:avLst/>
          </a:prstGeom>
          <a:noFill/>
          <a:ln/>
        </p:spPr>
        <p:txBody>
          <a:bodyPr wrap="none" lIns="0" tIns="0" rIns="0" bIns="0" rtlCol="0" anchor="ctr">
            <a:spAutoFit/>
          </a:bodyPr>
          <a:lstStyle/>
          <a:p>
            <a:pPr marL="0" indent="0" algn="l">
              <a:buNone/>
            </a:pPr>
            <a:endParaRPr lang="en-US" sz="1000" dirty="0"/>
          </a:p>
        </p:txBody>
      </p:sp>
      <p:sp>
        <p:nvSpPr>
          <p:cNvPr id="22" name="Text 9">
            <a:extLst>
              <a:ext uri="{FF2B5EF4-FFF2-40B4-BE49-F238E27FC236}">
                <a16:creationId xmlns:a16="http://schemas.microsoft.com/office/drawing/2014/main" id="{C2AF0329-9E1F-1B43-97FC-D1132ADC729B}"/>
              </a:ext>
            </a:extLst>
          </p:cNvPr>
          <p:cNvSpPr/>
          <p:nvPr/>
        </p:nvSpPr>
        <p:spPr>
          <a:xfrm>
            <a:off x="302639" y="4546702"/>
            <a:ext cx="2877951" cy="276999"/>
          </a:xfrm>
          <a:prstGeom prst="rect">
            <a:avLst/>
          </a:prstGeom>
          <a:noFill/>
          <a:ln/>
        </p:spPr>
        <p:txBody>
          <a:bodyPr wrap="square" lIns="0" tIns="0" rIns="0" bIns="0" rtlCol="0" anchor="ctr">
            <a:spAutoFit/>
          </a:bodyPr>
          <a:lstStyle/>
          <a:p>
            <a:pPr marL="0" indent="0">
              <a:buNone/>
            </a:pPr>
            <a:r>
              <a:rPr lang="en-US" b="1" dirty="0">
                <a:solidFill>
                  <a:srgbClr val="001F6B"/>
                </a:solidFill>
                <a:ea typeface="Roboto" pitchFamily="34" charset="-122"/>
                <a:cs typeface="Roboto" pitchFamily="34" charset="-120"/>
              </a:rPr>
              <a:t>Cleaned Dataset Contains</a:t>
            </a:r>
            <a:endParaRPr lang="en-US" dirty="0">
              <a:solidFill>
                <a:srgbClr val="001F6B"/>
              </a:solidFill>
            </a:endParaRPr>
          </a:p>
        </p:txBody>
      </p:sp>
      <p:sp>
        <p:nvSpPr>
          <p:cNvPr id="23" name="Text 10">
            <a:extLst>
              <a:ext uri="{FF2B5EF4-FFF2-40B4-BE49-F238E27FC236}">
                <a16:creationId xmlns:a16="http://schemas.microsoft.com/office/drawing/2014/main" id="{9F1F1410-8151-C46B-CD49-0393030B945D}"/>
              </a:ext>
            </a:extLst>
          </p:cNvPr>
          <p:cNvSpPr/>
          <p:nvPr/>
        </p:nvSpPr>
        <p:spPr>
          <a:xfrm>
            <a:off x="348938" y="4908070"/>
            <a:ext cx="4079643" cy="923330"/>
          </a:xfrm>
          <a:prstGeom prst="rect">
            <a:avLst/>
          </a:prstGeom>
          <a:noFill/>
          <a:ln/>
        </p:spPr>
        <p:txBody>
          <a:bodyPr wrap="square" lIns="0" tIns="0" rIns="0" bIns="0" rtlCol="0" anchor="ctr">
            <a:spAutoFit/>
          </a:bodyPr>
          <a:lstStyle/>
          <a:p>
            <a:pPr marL="171450" indent="-171450" algn="l">
              <a:buFont typeface="Arial" panose="020B0604020202020204" pitchFamily="34" charset="0"/>
              <a:buChar char="•"/>
            </a:pPr>
            <a:r>
              <a:rPr lang="en-US" sz="1500" dirty="0">
                <a:solidFill>
                  <a:srgbClr val="212529"/>
                </a:solidFill>
                <a:latin typeface="Noto Sans" panose="020B0502040504020204" pitchFamily="34" charset="0"/>
                <a:ea typeface="Noto Sans" panose="020B0502040504020204" pitchFamily="34" charset="0"/>
                <a:cs typeface="Noto Sans" panose="020B0502040504020204" pitchFamily="34" charset="0"/>
              </a:rPr>
              <a:t>Timestamps (high precision)</a:t>
            </a:r>
          </a:p>
          <a:p>
            <a:pPr marL="171450" indent="-171450">
              <a:buFont typeface="Arial" panose="020B0604020202020204" pitchFamily="34" charset="0"/>
              <a:buChar char="•"/>
            </a:pPr>
            <a:r>
              <a:rPr lang="en-US" sz="1500" dirty="0">
                <a:solidFill>
                  <a:srgbClr val="212529"/>
                </a:solidFill>
                <a:latin typeface="Noto Sans" panose="020B0502040504020204" pitchFamily="34" charset="0"/>
                <a:ea typeface="Noto Sans" panose="020B0502040504020204" pitchFamily="34" charset="0"/>
                <a:cs typeface="Noto Sans" panose="020B0502040504020204" pitchFamily="34" charset="0"/>
              </a:rPr>
              <a:t>Sensor values (binary and continuous)</a:t>
            </a:r>
            <a:endParaRPr lang="en-US" sz="1500" dirty="0">
              <a:latin typeface="Noto Sans" panose="020B0502040504020204" pitchFamily="34" charset="0"/>
              <a:ea typeface="Noto Sans" panose="020B0502040504020204" pitchFamily="34" charset="0"/>
              <a:cs typeface="Noto Sans" panose="020B0502040504020204" pitchFamily="34" charset="0"/>
            </a:endParaRPr>
          </a:p>
          <a:p>
            <a:pPr marL="171450" indent="-171450">
              <a:buFont typeface="Arial" panose="020B0604020202020204" pitchFamily="34" charset="0"/>
              <a:buChar char="•"/>
            </a:pPr>
            <a:r>
              <a:rPr lang="en-US" sz="1500" dirty="0">
                <a:solidFill>
                  <a:srgbClr val="212529"/>
                </a:solidFill>
                <a:latin typeface="Noto Sans" panose="020B0502040504020204" pitchFamily="34" charset="0"/>
                <a:ea typeface="Noto Sans" panose="020B0502040504020204" pitchFamily="34" charset="0"/>
                <a:cs typeface="Noto Sans" panose="020B0502040504020204" pitchFamily="34" charset="0"/>
              </a:rPr>
              <a:t>Active sequences (e.g., CV104_SEQ_05)</a:t>
            </a:r>
            <a:endParaRPr lang="en-US" sz="1500" dirty="0">
              <a:latin typeface="Noto Sans" panose="020B0502040504020204" pitchFamily="34" charset="0"/>
              <a:ea typeface="Noto Sans" panose="020B0502040504020204" pitchFamily="34" charset="0"/>
              <a:cs typeface="Noto Sans" panose="020B0502040504020204" pitchFamily="34" charset="0"/>
            </a:endParaRPr>
          </a:p>
          <a:p>
            <a:pPr marL="171450" indent="-171450">
              <a:buFont typeface="Arial" panose="020B0604020202020204" pitchFamily="34" charset="0"/>
              <a:buChar char="•"/>
            </a:pPr>
            <a:r>
              <a:rPr lang="en-US" sz="1500" dirty="0">
                <a:solidFill>
                  <a:srgbClr val="212529"/>
                </a:solidFill>
                <a:latin typeface="Noto Sans" panose="020B0502040504020204" pitchFamily="34" charset="0"/>
                <a:ea typeface="Noto Sans" panose="020B0502040504020204" pitchFamily="34" charset="0"/>
                <a:cs typeface="Noto Sans" panose="020B0502040504020204" pitchFamily="34" charset="0"/>
              </a:rPr>
              <a:t>Anomaly labels (for training and validation)</a:t>
            </a:r>
            <a:endParaRPr lang="en-US" sz="1500" dirty="0">
              <a:latin typeface="Noto Sans" panose="020B0502040504020204" pitchFamily="34" charset="0"/>
              <a:ea typeface="Noto Sans" panose="020B0502040504020204" pitchFamily="34" charset="0"/>
              <a:cs typeface="Noto Sans" panose="020B0502040504020204" pitchFamily="34" charset="0"/>
            </a:endParaRPr>
          </a:p>
        </p:txBody>
      </p:sp>
      <p:sp>
        <p:nvSpPr>
          <p:cNvPr id="24" name="Text 11">
            <a:extLst>
              <a:ext uri="{FF2B5EF4-FFF2-40B4-BE49-F238E27FC236}">
                <a16:creationId xmlns:a16="http://schemas.microsoft.com/office/drawing/2014/main" id="{87906D44-4C3D-48BA-3ED5-B04807495034}"/>
              </a:ext>
            </a:extLst>
          </p:cNvPr>
          <p:cNvSpPr/>
          <p:nvPr/>
        </p:nvSpPr>
        <p:spPr>
          <a:xfrm>
            <a:off x="500063" y="5107992"/>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5" name="Text 12">
            <a:extLst>
              <a:ext uri="{FF2B5EF4-FFF2-40B4-BE49-F238E27FC236}">
                <a16:creationId xmlns:a16="http://schemas.microsoft.com/office/drawing/2014/main" id="{6536DF72-8572-8DE5-33E1-D513EAEE5C34}"/>
              </a:ext>
            </a:extLst>
          </p:cNvPr>
          <p:cNvSpPr/>
          <p:nvPr/>
        </p:nvSpPr>
        <p:spPr>
          <a:xfrm>
            <a:off x="517922" y="5429461"/>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6" name="Text 13">
            <a:extLst>
              <a:ext uri="{FF2B5EF4-FFF2-40B4-BE49-F238E27FC236}">
                <a16:creationId xmlns:a16="http://schemas.microsoft.com/office/drawing/2014/main" id="{5E14EDDF-B24A-12F2-4D37-0C9DB7A3302D}"/>
              </a:ext>
            </a:extLst>
          </p:cNvPr>
          <p:cNvSpPr/>
          <p:nvPr/>
        </p:nvSpPr>
        <p:spPr>
          <a:xfrm>
            <a:off x="500063" y="5750930"/>
            <a:ext cx="65" cy="160941"/>
          </a:xfrm>
          <a:prstGeom prst="rect">
            <a:avLst/>
          </a:prstGeom>
          <a:noFill/>
          <a:ln/>
        </p:spPr>
        <p:txBody>
          <a:bodyPr wrap="none" lIns="0" tIns="0" rIns="0" bIns="0" rtlCol="0" anchor="ctr">
            <a:spAutoFit/>
          </a:bodyPr>
          <a:lstStyle/>
          <a:p>
            <a:pPr marL="0" indent="0" algn="l">
              <a:buNone/>
            </a:pPr>
            <a:endParaRPr lang="en-US" sz="1046" dirty="0"/>
          </a:p>
        </p:txBody>
      </p:sp>
      <p:pic>
        <p:nvPicPr>
          <p:cNvPr id="29" name="Image 28" descr="Une image contenant texte, capture d’écran, diagramme, Tracé&#10;&#10;Le contenu généré par l’IA peut être incorrect.">
            <a:extLst>
              <a:ext uri="{FF2B5EF4-FFF2-40B4-BE49-F238E27FC236}">
                <a16:creationId xmlns:a16="http://schemas.microsoft.com/office/drawing/2014/main" id="{DE8FD50E-BE3D-025D-05BA-2B4A13944F27}"/>
              </a:ext>
            </a:extLst>
          </p:cNvPr>
          <p:cNvPicPr>
            <a:picLocks noChangeAspect="1"/>
          </p:cNvPicPr>
          <p:nvPr/>
        </p:nvPicPr>
        <p:blipFill>
          <a:blip r:embed="rId3">
            <a:extLst>
              <a:ext uri="{28A0092B-C50C-407E-A947-70E740481C1C}">
                <a14:useLocalDpi xmlns:a14="http://schemas.microsoft.com/office/drawing/2010/main" val="0"/>
              </a:ext>
            </a:extLst>
          </a:blip>
          <a:srcRect l="944" t="10711" r="41819" b="4614"/>
          <a:stretch>
            <a:fillRect/>
          </a:stretch>
        </p:blipFill>
        <p:spPr>
          <a:xfrm>
            <a:off x="6065658" y="1385201"/>
            <a:ext cx="5498644" cy="4565513"/>
          </a:xfrm>
          <a:prstGeom prst="rect">
            <a:avLst/>
          </a:prstGeom>
        </p:spPr>
      </p:pic>
    </p:spTree>
    <p:extLst>
      <p:ext uri="{BB962C8B-B14F-4D97-AF65-F5344CB8AC3E}">
        <p14:creationId xmlns:p14="http://schemas.microsoft.com/office/powerpoint/2010/main" val="2816881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E465A5-C6B6-E614-1A4B-ED7E10DAC086}"/>
              </a:ext>
            </a:extLst>
          </p:cNvPr>
          <p:cNvSpPr>
            <a:spLocks noGrp="1"/>
          </p:cNvSpPr>
          <p:nvPr>
            <p:ph type="title"/>
          </p:nvPr>
        </p:nvSpPr>
        <p:spPr/>
        <p:txBody>
          <a:bodyPr>
            <a:normAutofit/>
          </a:bodyPr>
          <a:lstStyle/>
          <a:p>
            <a:r>
              <a:rPr lang="en-US" sz="2400" b="1" dirty="0">
                <a:solidFill>
                  <a:schemeClr val="bg1"/>
                </a:solidFill>
                <a:latin typeface="+mj-lt"/>
                <a:ea typeface="Roboto" pitchFamily="34" charset="-122"/>
                <a:cs typeface="Roboto" pitchFamily="34" charset="-120"/>
              </a:rPr>
              <a:t>AI Model: Unmasking Hidden Anomalies</a:t>
            </a:r>
            <a:endParaRPr lang="en-US" sz="2400" dirty="0">
              <a:solidFill>
                <a:schemeClr val="bg1"/>
              </a:solidFill>
              <a:latin typeface="+mj-lt"/>
            </a:endParaRPr>
          </a:p>
        </p:txBody>
      </p:sp>
      <p:sp>
        <p:nvSpPr>
          <p:cNvPr id="11" name="Shape 1">
            <a:extLst>
              <a:ext uri="{FF2B5EF4-FFF2-40B4-BE49-F238E27FC236}">
                <a16:creationId xmlns:a16="http://schemas.microsoft.com/office/drawing/2014/main" id="{006BF090-F076-6A08-A6AD-8B20C4CBA79B}"/>
              </a:ext>
            </a:extLst>
          </p:cNvPr>
          <p:cNvSpPr/>
          <p:nvPr/>
        </p:nvSpPr>
        <p:spPr>
          <a:xfrm>
            <a:off x="290802" y="1742833"/>
            <a:ext cx="3971925" cy="857250"/>
          </a:xfrm>
          <a:prstGeom prst="rect">
            <a:avLst/>
          </a:prstGeom>
          <a:solidFill>
            <a:srgbClr val="1A365D">
              <a:alpha val="10000"/>
            </a:srgbClr>
          </a:solidFill>
          <a:ln/>
        </p:spPr>
        <p:txBody>
          <a:bodyPr/>
          <a:lstStyle/>
          <a:p>
            <a:endParaRPr lang="fr-MA"/>
          </a:p>
        </p:txBody>
      </p:sp>
      <p:sp>
        <p:nvSpPr>
          <p:cNvPr id="12" name="Shape 2">
            <a:extLst>
              <a:ext uri="{FF2B5EF4-FFF2-40B4-BE49-F238E27FC236}">
                <a16:creationId xmlns:a16="http://schemas.microsoft.com/office/drawing/2014/main" id="{1E293041-B87A-0527-C8BD-BC943B279B08}"/>
              </a:ext>
            </a:extLst>
          </p:cNvPr>
          <p:cNvSpPr/>
          <p:nvPr/>
        </p:nvSpPr>
        <p:spPr>
          <a:xfrm>
            <a:off x="290802" y="1742833"/>
            <a:ext cx="28575" cy="857250"/>
          </a:xfrm>
          <a:prstGeom prst="rect">
            <a:avLst/>
          </a:prstGeom>
          <a:solidFill>
            <a:srgbClr val="001F6B"/>
          </a:solidFill>
          <a:ln/>
        </p:spPr>
        <p:txBody>
          <a:bodyPr/>
          <a:lstStyle/>
          <a:p>
            <a:endParaRPr lang="fr-MA"/>
          </a:p>
        </p:txBody>
      </p:sp>
      <p:sp>
        <p:nvSpPr>
          <p:cNvPr id="13" name="ZoneTexte 12">
            <a:extLst>
              <a:ext uri="{FF2B5EF4-FFF2-40B4-BE49-F238E27FC236}">
                <a16:creationId xmlns:a16="http://schemas.microsoft.com/office/drawing/2014/main" id="{EC5CF912-42CE-4DB4-95E0-CD17D3353DEB}"/>
              </a:ext>
            </a:extLst>
          </p:cNvPr>
          <p:cNvSpPr txBox="1"/>
          <p:nvPr/>
        </p:nvSpPr>
        <p:spPr>
          <a:xfrm>
            <a:off x="319377" y="1802126"/>
            <a:ext cx="4043241" cy="738664"/>
          </a:xfrm>
          <a:prstGeom prst="rect">
            <a:avLst/>
          </a:prstGeom>
          <a:noFill/>
        </p:spPr>
        <p:txBody>
          <a:bodyPr wrap="square">
            <a:spAutoFit/>
          </a:bodyPr>
          <a:lstStyle/>
          <a:p>
            <a:r>
              <a:rPr lang="en-US" sz="1400" dirty="0">
                <a:solidFill>
                  <a:srgbClr val="212529"/>
                </a:solidFill>
                <a:latin typeface="Noto Sans" pitchFamily="34" charset="0"/>
                <a:ea typeface="Noto Sans" pitchFamily="34" charset="-122"/>
                <a:cs typeface="Noto Sans" pitchFamily="34" charset="-120"/>
              </a:rPr>
              <a:t>We plan to train a machine learning model to detect abnormal transitions, spot missing conditions, and alert operators in real time.</a:t>
            </a:r>
            <a:endParaRPr lang="en-US" sz="1400" dirty="0"/>
          </a:p>
        </p:txBody>
      </p:sp>
      <p:sp>
        <p:nvSpPr>
          <p:cNvPr id="14" name="Text 4">
            <a:extLst>
              <a:ext uri="{FF2B5EF4-FFF2-40B4-BE49-F238E27FC236}">
                <a16:creationId xmlns:a16="http://schemas.microsoft.com/office/drawing/2014/main" id="{CC050372-A2DA-82BF-6156-3512775D47DA}"/>
              </a:ext>
            </a:extLst>
          </p:cNvPr>
          <p:cNvSpPr/>
          <p:nvPr/>
        </p:nvSpPr>
        <p:spPr>
          <a:xfrm>
            <a:off x="319377" y="3279276"/>
            <a:ext cx="2128788" cy="276999"/>
          </a:xfrm>
          <a:prstGeom prst="rect">
            <a:avLst/>
          </a:prstGeom>
          <a:noFill/>
          <a:ln/>
        </p:spPr>
        <p:txBody>
          <a:bodyPr wrap="none" lIns="0" tIns="0" rIns="0" bIns="0" rtlCol="0" anchor="ctr">
            <a:spAutoFit/>
          </a:bodyPr>
          <a:lstStyle/>
          <a:p>
            <a:pPr marL="0" indent="0">
              <a:buNone/>
            </a:pPr>
            <a:r>
              <a:rPr lang="en-US" b="1" dirty="0">
                <a:solidFill>
                  <a:srgbClr val="001F6B"/>
                </a:solidFill>
                <a:latin typeface="Roboto" pitchFamily="34" charset="0"/>
                <a:ea typeface="Roboto" pitchFamily="34" charset="-122"/>
                <a:cs typeface="Roboto" pitchFamily="34" charset="-120"/>
              </a:rPr>
              <a:t>Planned Capabilities</a:t>
            </a:r>
            <a:endParaRPr lang="en-US" dirty="0">
              <a:solidFill>
                <a:srgbClr val="001F6B"/>
              </a:solidFill>
            </a:endParaRPr>
          </a:p>
        </p:txBody>
      </p:sp>
      <p:sp>
        <p:nvSpPr>
          <p:cNvPr id="15" name="Text 5">
            <a:extLst>
              <a:ext uri="{FF2B5EF4-FFF2-40B4-BE49-F238E27FC236}">
                <a16:creationId xmlns:a16="http://schemas.microsoft.com/office/drawing/2014/main" id="{EBA70B15-2E8F-9850-37D4-B1F71BC452D7}"/>
              </a:ext>
            </a:extLst>
          </p:cNvPr>
          <p:cNvSpPr/>
          <p:nvPr/>
        </p:nvSpPr>
        <p:spPr>
          <a:xfrm>
            <a:off x="333665" y="3656638"/>
            <a:ext cx="3714158" cy="923330"/>
          </a:xfrm>
          <a:prstGeom prst="rect">
            <a:avLst/>
          </a:prstGeom>
          <a:noFill/>
          <a:ln/>
        </p:spPr>
        <p:txBody>
          <a:bodyPr wrap="none" lIns="0" tIns="0" rIns="0" bIns="0" rtlCol="0" anchor="ctr">
            <a:spAutoFit/>
          </a:bodyPr>
          <a:lstStyle/>
          <a:p>
            <a:pPr marL="171450" indent="-171450" algn="l">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Detect abnormal sequence transitions</a:t>
            </a:r>
          </a:p>
          <a:p>
            <a:pPr marL="171450" indent="-171450">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Identify missing or incorrect conditions</a:t>
            </a:r>
            <a:endParaRPr lang="en-US" sz="1500" dirty="0"/>
          </a:p>
          <a:p>
            <a:pPr marL="171450" indent="-171450">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Real-time alerts to operators</a:t>
            </a:r>
            <a:endParaRPr lang="en-US" sz="1500" dirty="0"/>
          </a:p>
          <a:p>
            <a:pPr marL="171450" indent="-171450">
              <a:buFont typeface="Arial" panose="020B0604020202020204" pitchFamily="34" charset="0"/>
              <a:buChar char="•"/>
            </a:pPr>
            <a:r>
              <a:rPr lang="en-US" sz="1500" dirty="0">
                <a:solidFill>
                  <a:srgbClr val="212529"/>
                </a:solidFill>
                <a:latin typeface="Noto Sans" pitchFamily="34" charset="0"/>
                <a:ea typeface="Noto Sans" pitchFamily="34" charset="-122"/>
                <a:cs typeface="Noto Sans" pitchFamily="34" charset="-120"/>
              </a:rPr>
              <a:t>Anomaly scoring and prioritization</a:t>
            </a:r>
            <a:endParaRPr lang="en-US" sz="1500" dirty="0"/>
          </a:p>
        </p:txBody>
      </p:sp>
      <p:sp>
        <p:nvSpPr>
          <p:cNvPr id="16" name="Text 6">
            <a:extLst>
              <a:ext uri="{FF2B5EF4-FFF2-40B4-BE49-F238E27FC236}">
                <a16:creationId xmlns:a16="http://schemas.microsoft.com/office/drawing/2014/main" id="{77318491-22D6-27F5-1964-39E940771DCE}"/>
              </a:ext>
            </a:extLst>
          </p:cNvPr>
          <p:cNvSpPr/>
          <p:nvPr/>
        </p:nvSpPr>
        <p:spPr>
          <a:xfrm>
            <a:off x="794398" y="4037394"/>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17" name="Text 7">
            <a:extLst>
              <a:ext uri="{FF2B5EF4-FFF2-40B4-BE49-F238E27FC236}">
                <a16:creationId xmlns:a16="http://schemas.microsoft.com/office/drawing/2014/main" id="{75AC506B-FDC6-1DF8-8E15-855A0A0BDC9B}"/>
              </a:ext>
            </a:extLst>
          </p:cNvPr>
          <p:cNvSpPr/>
          <p:nvPr/>
        </p:nvSpPr>
        <p:spPr>
          <a:xfrm>
            <a:off x="776538" y="4358862"/>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35" name="Shape 9">
            <a:extLst>
              <a:ext uri="{FF2B5EF4-FFF2-40B4-BE49-F238E27FC236}">
                <a16:creationId xmlns:a16="http://schemas.microsoft.com/office/drawing/2014/main" id="{57FA1CB8-01CD-22CA-DF0D-DFB98C38098F}"/>
              </a:ext>
            </a:extLst>
          </p:cNvPr>
          <p:cNvSpPr/>
          <p:nvPr/>
        </p:nvSpPr>
        <p:spPr>
          <a:xfrm>
            <a:off x="6748945" y="2107724"/>
            <a:ext cx="4662678" cy="697536"/>
          </a:xfrm>
          <a:prstGeom prst="rect">
            <a:avLst/>
          </a:prstGeom>
          <a:solidFill>
            <a:srgbClr val="E8EBEE"/>
          </a:solidFill>
          <a:ln/>
        </p:spPr>
        <p:txBody>
          <a:bodyPr/>
          <a:lstStyle/>
          <a:p>
            <a:endParaRPr lang="fr-MA"/>
          </a:p>
        </p:txBody>
      </p:sp>
      <p:sp>
        <p:nvSpPr>
          <p:cNvPr id="36" name="Shape 10">
            <a:extLst>
              <a:ext uri="{FF2B5EF4-FFF2-40B4-BE49-F238E27FC236}">
                <a16:creationId xmlns:a16="http://schemas.microsoft.com/office/drawing/2014/main" id="{3B545072-3072-EE9F-EF4B-BAFBC5C80FD0}"/>
              </a:ext>
            </a:extLst>
          </p:cNvPr>
          <p:cNvSpPr/>
          <p:nvPr/>
        </p:nvSpPr>
        <p:spPr>
          <a:xfrm>
            <a:off x="6820383" y="2277898"/>
            <a:ext cx="357188" cy="357188"/>
          </a:xfrm>
          <a:prstGeom prst="ellipse">
            <a:avLst/>
          </a:prstGeom>
          <a:solidFill>
            <a:srgbClr val="001F6B"/>
          </a:solidFill>
          <a:ln/>
        </p:spPr>
        <p:txBody>
          <a:bodyPr/>
          <a:lstStyle/>
          <a:p>
            <a:endParaRPr lang="fr-MA"/>
          </a:p>
        </p:txBody>
      </p:sp>
      <p:sp>
        <p:nvSpPr>
          <p:cNvPr id="37" name="Text 11">
            <a:extLst>
              <a:ext uri="{FF2B5EF4-FFF2-40B4-BE49-F238E27FC236}">
                <a16:creationId xmlns:a16="http://schemas.microsoft.com/office/drawing/2014/main" id="{A0DFF73C-96CE-19B0-5B03-56019FD5EA21}"/>
              </a:ext>
            </a:extLst>
          </p:cNvPr>
          <p:cNvSpPr/>
          <p:nvPr/>
        </p:nvSpPr>
        <p:spPr>
          <a:xfrm>
            <a:off x="7284726" y="2249338"/>
            <a:ext cx="1037143" cy="215444"/>
          </a:xfrm>
          <a:prstGeom prst="rect">
            <a:avLst/>
          </a:prstGeom>
          <a:noFill/>
          <a:ln/>
        </p:spPr>
        <p:txBody>
          <a:bodyPr wrap="none" lIns="0" tIns="0" rIns="0" bIns="0" rtlCol="0" anchor="ctr">
            <a:spAutoFit/>
          </a:bodyPr>
          <a:lstStyle/>
          <a:p>
            <a:pPr marL="0" indent="0">
              <a:buNone/>
            </a:pPr>
            <a:r>
              <a:rPr lang="en-US" sz="1400" b="1" dirty="0">
                <a:solidFill>
                  <a:srgbClr val="212529"/>
                </a:solidFill>
                <a:latin typeface="Noto Sans" pitchFamily="34" charset="0"/>
                <a:ea typeface="Noto Sans" pitchFamily="34" charset="-122"/>
                <a:cs typeface="Noto Sans" pitchFamily="34" charset="-120"/>
              </a:rPr>
              <a:t>LSTM / GRU</a:t>
            </a:r>
            <a:endParaRPr lang="en-US" sz="1400" dirty="0"/>
          </a:p>
        </p:txBody>
      </p:sp>
      <p:sp>
        <p:nvSpPr>
          <p:cNvPr id="38" name="Text 12">
            <a:extLst>
              <a:ext uri="{FF2B5EF4-FFF2-40B4-BE49-F238E27FC236}">
                <a16:creationId xmlns:a16="http://schemas.microsoft.com/office/drawing/2014/main" id="{DEACE788-4620-3F42-C07B-E8AC7C93B780}"/>
              </a:ext>
            </a:extLst>
          </p:cNvPr>
          <p:cNvSpPr/>
          <p:nvPr/>
        </p:nvSpPr>
        <p:spPr>
          <a:xfrm>
            <a:off x="7284726" y="2498423"/>
            <a:ext cx="4079643" cy="184666"/>
          </a:xfrm>
          <a:prstGeom prst="rect">
            <a:avLst/>
          </a:prstGeom>
          <a:noFill/>
          <a:ln/>
        </p:spPr>
        <p:txBody>
          <a:bodyPr wrap="none" lIns="0" tIns="0" rIns="0" bIns="0" rtlCol="0" anchor="ctr">
            <a:spAutoFit/>
          </a:bodyPr>
          <a:lstStyle/>
          <a:p>
            <a:pPr marL="0" indent="0">
              <a:buNone/>
            </a:pPr>
            <a:r>
              <a:rPr lang="en-US" sz="1200" dirty="0">
                <a:solidFill>
                  <a:srgbClr val="495057"/>
                </a:solidFill>
                <a:latin typeface="Noto Sans" pitchFamily="34" charset="0"/>
                <a:ea typeface="Noto Sans" pitchFamily="34" charset="-122"/>
                <a:cs typeface="Noto Sans" pitchFamily="34" charset="-120"/>
              </a:rPr>
              <a:t>For sequence learning and temporal pattern recognition</a:t>
            </a:r>
            <a:endParaRPr lang="en-US" sz="1200" dirty="0"/>
          </a:p>
        </p:txBody>
      </p:sp>
      <p:sp>
        <p:nvSpPr>
          <p:cNvPr id="51" name="Shape 9">
            <a:extLst>
              <a:ext uri="{FF2B5EF4-FFF2-40B4-BE49-F238E27FC236}">
                <a16:creationId xmlns:a16="http://schemas.microsoft.com/office/drawing/2014/main" id="{951BE244-8EF8-A19E-CEE9-D311998E29CF}"/>
              </a:ext>
            </a:extLst>
          </p:cNvPr>
          <p:cNvSpPr/>
          <p:nvPr/>
        </p:nvSpPr>
        <p:spPr>
          <a:xfrm>
            <a:off x="6748945" y="2941500"/>
            <a:ext cx="4662678" cy="697536"/>
          </a:xfrm>
          <a:prstGeom prst="rect">
            <a:avLst/>
          </a:prstGeom>
          <a:solidFill>
            <a:srgbClr val="E8EBEE"/>
          </a:solidFill>
          <a:ln/>
        </p:spPr>
        <p:txBody>
          <a:bodyPr/>
          <a:lstStyle/>
          <a:p>
            <a:endParaRPr lang="fr-MA"/>
          </a:p>
        </p:txBody>
      </p:sp>
      <p:sp>
        <p:nvSpPr>
          <p:cNvPr id="52" name="Shape 10">
            <a:extLst>
              <a:ext uri="{FF2B5EF4-FFF2-40B4-BE49-F238E27FC236}">
                <a16:creationId xmlns:a16="http://schemas.microsoft.com/office/drawing/2014/main" id="{E84F7329-0935-FBA4-FD32-240B3AAAB1A6}"/>
              </a:ext>
            </a:extLst>
          </p:cNvPr>
          <p:cNvSpPr/>
          <p:nvPr/>
        </p:nvSpPr>
        <p:spPr>
          <a:xfrm>
            <a:off x="6820383" y="3111674"/>
            <a:ext cx="357188" cy="357188"/>
          </a:xfrm>
          <a:prstGeom prst="ellipse">
            <a:avLst/>
          </a:prstGeom>
          <a:solidFill>
            <a:srgbClr val="001F6B"/>
          </a:solidFill>
          <a:ln/>
        </p:spPr>
        <p:txBody>
          <a:bodyPr/>
          <a:lstStyle/>
          <a:p>
            <a:endParaRPr lang="fr-MA"/>
          </a:p>
        </p:txBody>
      </p:sp>
      <p:sp>
        <p:nvSpPr>
          <p:cNvPr id="53" name="Text 11">
            <a:extLst>
              <a:ext uri="{FF2B5EF4-FFF2-40B4-BE49-F238E27FC236}">
                <a16:creationId xmlns:a16="http://schemas.microsoft.com/office/drawing/2014/main" id="{E0175FAC-8134-9807-45CC-C76EF4AE9977}"/>
              </a:ext>
            </a:extLst>
          </p:cNvPr>
          <p:cNvSpPr/>
          <p:nvPr/>
        </p:nvSpPr>
        <p:spPr>
          <a:xfrm>
            <a:off x="7284726" y="3083114"/>
            <a:ext cx="2295500" cy="215444"/>
          </a:xfrm>
          <a:prstGeom prst="rect">
            <a:avLst/>
          </a:prstGeom>
          <a:noFill/>
          <a:ln/>
        </p:spPr>
        <p:txBody>
          <a:bodyPr wrap="none" lIns="0" tIns="0" rIns="0" bIns="0" rtlCol="0" anchor="ctr">
            <a:spAutoFit/>
          </a:bodyPr>
          <a:lstStyle/>
          <a:p>
            <a:r>
              <a:rPr lang="en-US" sz="1400" b="1" dirty="0">
                <a:solidFill>
                  <a:srgbClr val="212529"/>
                </a:solidFill>
                <a:latin typeface="Noto Sans" pitchFamily="34" charset="0"/>
                <a:ea typeface="Noto Sans" pitchFamily="34" charset="-122"/>
                <a:cs typeface="Noto Sans" pitchFamily="34" charset="-120"/>
              </a:rPr>
              <a:t>Random Forest / </a:t>
            </a:r>
            <a:r>
              <a:rPr lang="en-US" sz="1400" b="1" dirty="0" err="1">
                <a:solidFill>
                  <a:srgbClr val="212529"/>
                </a:solidFill>
                <a:latin typeface="Noto Sans" pitchFamily="34" charset="0"/>
                <a:ea typeface="Noto Sans" pitchFamily="34" charset="-122"/>
                <a:cs typeface="Noto Sans" pitchFamily="34" charset="-120"/>
              </a:rPr>
              <a:t>XGBoost</a:t>
            </a:r>
            <a:endParaRPr lang="en-US" sz="1400" dirty="0"/>
          </a:p>
        </p:txBody>
      </p:sp>
      <p:sp>
        <p:nvSpPr>
          <p:cNvPr id="54" name="Text 12">
            <a:extLst>
              <a:ext uri="{FF2B5EF4-FFF2-40B4-BE49-F238E27FC236}">
                <a16:creationId xmlns:a16="http://schemas.microsoft.com/office/drawing/2014/main" id="{76AD999B-54C8-D030-6E1F-C224FB53434C}"/>
              </a:ext>
            </a:extLst>
          </p:cNvPr>
          <p:cNvSpPr/>
          <p:nvPr/>
        </p:nvSpPr>
        <p:spPr>
          <a:xfrm>
            <a:off x="7284726" y="3332199"/>
            <a:ext cx="3157916" cy="184666"/>
          </a:xfrm>
          <a:prstGeom prst="rect">
            <a:avLst/>
          </a:prstGeom>
          <a:noFill/>
          <a:ln/>
        </p:spPr>
        <p:txBody>
          <a:bodyPr wrap="none" lIns="0" tIns="0" rIns="0" bIns="0" rtlCol="0" anchor="ctr">
            <a:spAutoFit/>
          </a:bodyPr>
          <a:lstStyle/>
          <a:p>
            <a:r>
              <a:rPr lang="en-US" sz="1200" dirty="0">
                <a:solidFill>
                  <a:srgbClr val="495057"/>
                </a:solidFill>
                <a:latin typeface="Noto Sans" pitchFamily="34" charset="0"/>
                <a:ea typeface="Noto Sans" pitchFamily="34" charset="-122"/>
                <a:cs typeface="Noto Sans" pitchFamily="34" charset="-120"/>
              </a:rPr>
              <a:t>For labeled classification with high accuracy</a:t>
            </a:r>
            <a:endParaRPr lang="en-US" sz="1200" dirty="0"/>
          </a:p>
        </p:txBody>
      </p:sp>
      <p:sp>
        <p:nvSpPr>
          <p:cNvPr id="55" name="Shape 9">
            <a:extLst>
              <a:ext uri="{FF2B5EF4-FFF2-40B4-BE49-F238E27FC236}">
                <a16:creationId xmlns:a16="http://schemas.microsoft.com/office/drawing/2014/main" id="{10AF2940-C538-0A2A-B7AD-8D718E653CBE}"/>
              </a:ext>
            </a:extLst>
          </p:cNvPr>
          <p:cNvSpPr/>
          <p:nvPr/>
        </p:nvSpPr>
        <p:spPr>
          <a:xfrm>
            <a:off x="6748945" y="3746192"/>
            <a:ext cx="4662678" cy="697536"/>
          </a:xfrm>
          <a:prstGeom prst="rect">
            <a:avLst/>
          </a:prstGeom>
          <a:solidFill>
            <a:srgbClr val="E8EBEE"/>
          </a:solidFill>
          <a:ln/>
        </p:spPr>
        <p:txBody>
          <a:bodyPr/>
          <a:lstStyle/>
          <a:p>
            <a:endParaRPr lang="fr-MA"/>
          </a:p>
        </p:txBody>
      </p:sp>
      <p:sp>
        <p:nvSpPr>
          <p:cNvPr id="56" name="Shape 10">
            <a:extLst>
              <a:ext uri="{FF2B5EF4-FFF2-40B4-BE49-F238E27FC236}">
                <a16:creationId xmlns:a16="http://schemas.microsoft.com/office/drawing/2014/main" id="{22EC3E54-0E4B-7C26-63F9-E0DA68A64242}"/>
              </a:ext>
            </a:extLst>
          </p:cNvPr>
          <p:cNvSpPr/>
          <p:nvPr/>
        </p:nvSpPr>
        <p:spPr>
          <a:xfrm>
            <a:off x="6820383" y="3916366"/>
            <a:ext cx="357188" cy="357188"/>
          </a:xfrm>
          <a:prstGeom prst="ellipse">
            <a:avLst/>
          </a:prstGeom>
          <a:solidFill>
            <a:srgbClr val="001F6B"/>
          </a:solidFill>
          <a:ln/>
        </p:spPr>
        <p:txBody>
          <a:bodyPr/>
          <a:lstStyle/>
          <a:p>
            <a:endParaRPr lang="fr-MA"/>
          </a:p>
        </p:txBody>
      </p:sp>
      <p:sp>
        <p:nvSpPr>
          <p:cNvPr id="57" name="Text 11">
            <a:extLst>
              <a:ext uri="{FF2B5EF4-FFF2-40B4-BE49-F238E27FC236}">
                <a16:creationId xmlns:a16="http://schemas.microsoft.com/office/drawing/2014/main" id="{165C464B-367F-90FF-B780-475899EE9DBE}"/>
              </a:ext>
            </a:extLst>
          </p:cNvPr>
          <p:cNvSpPr/>
          <p:nvPr/>
        </p:nvSpPr>
        <p:spPr>
          <a:xfrm>
            <a:off x="7284726" y="3887806"/>
            <a:ext cx="1250342" cy="215444"/>
          </a:xfrm>
          <a:prstGeom prst="rect">
            <a:avLst/>
          </a:prstGeom>
          <a:noFill/>
          <a:ln/>
        </p:spPr>
        <p:txBody>
          <a:bodyPr wrap="none" lIns="0" tIns="0" rIns="0" bIns="0" rtlCol="0" anchor="ctr">
            <a:spAutoFit/>
          </a:bodyPr>
          <a:lstStyle/>
          <a:p>
            <a:r>
              <a:rPr lang="en-US" sz="1400" b="1" dirty="0">
                <a:solidFill>
                  <a:srgbClr val="212529"/>
                </a:solidFill>
                <a:latin typeface="Noto Sans" pitchFamily="34" charset="0"/>
                <a:ea typeface="Noto Sans" pitchFamily="34" charset="-122"/>
                <a:cs typeface="Noto Sans" pitchFamily="34" charset="-120"/>
              </a:rPr>
              <a:t>Autoencoders</a:t>
            </a:r>
            <a:endParaRPr lang="en-US" sz="1400" dirty="0"/>
          </a:p>
        </p:txBody>
      </p:sp>
      <p:sp>
        <p:nvSpPr>
          <p:cNvPr id="58" name="Text 12">
            <a:extLst>
              <a:ext uri="{FF2B5EF4-FFF2-40B4-BE49-F238E27FC236}">
                <a16:creationId xmlns:a16="http://schemas.microsoft.com/office/drawing/2014/main" id="{AC20006A-B0DE-B521-A6AC-06AF82726646}"/>
              </a:ext>
            </a:extLst>
          </p:cNvPr>
          <p:cNvSpPr/>
          <p:nvPr/>
        </p:nvSpPr>
        <p:spPr>
          <a:xfrm>
            <a:off x="7284726" y="4136891"/>
            <a:ext cx="3528210" cy="184666"/>
          </a:xfrm>
          <a:prstGeom prst="rect">
            <a:avLst/>
          </a:prstGeom>
          <a:noFill/>
          <a:ln/>
        </p:spPr>
        <p:txBody>
          <a:bodyPr wrap="none" lIns="0" tIns="0" rIns="0" bIns="0" rtlCol="0" anchor="ctr">
            <a:spAutoFit/>
          </a:bodyPr>
          <a:lstStyle/>
          <a:p>
            <a:r>
              <a:rPr lang="en-US" sz="1200" dirty="0">
                <a:solidFill>
                  <a:srgbClr val="495057"/>
                </a:solidFill>
                <a:latin typeface="Noto Sans" pitchFamily="34" charset="0"/>
                <a:ea typeface="Noto Sans" pitchFamily="34" charset="-122"/>
                <a:cs typeface="Noto Sans" pitchFamily="34" charset="-120"/>
              </a:rPr>
              <a:t>For unsupervised anomaly detection and scoring</a:t>
            </a:r>
            <a:endParaRPr lang="en-US" sz="1200" dirty="0"/>
          </a:p>
        </p:txBody>
      </p:sp>
      <p:sp>
        <p:nvSpPr>
          <p:cNvPr id="59" name="Shape 9">
            <a:extLst>
              <a:ext uri="{FF2B5EF4-FFF2-40B4-BE49-F238E27FC236}">
                <a16:creationId xmlns:a16="http://schemas.microsoft.com/office/drawing/2014/main" id="{EF70E7F9-1069-9EB6-FFA3-2C9F8B191132}"/>
              </a:ext>
            </a:extLst>
          </p:cNvPr>
          <p:cNvSpPr/>
          <p:nvPr/>
        </p:nvSpPr>
        <p:spPr>
          <a:xfrm>
            <a:off x="6748945" y="4579968"/>
            <a:ext cx="4662678" cy="697536"/>
          </a:xfrm>
          <a:prstGeom prst="rect">
            <a:avLst/>
          </a:prstGeom>
          <a:solidFill>
            <a:srgbClr val="E8EBEE"/>
          </a:solidFill>
          <a:ln/>
        </p:spPr>
        <p:txBody>
          <a:bodyPr/>
          <a:lstStyle/>
          <a:p>
            <a:endParaRPr lang="fr-MA"/>
          </a:p>
        </p:txBody>
      </p:sp>
      <p:sp>
        <p:nvSpPr>
          <p:cNvPr id="60" name="Shape 10">
            <a:extLst>
              <a:ext uri="{FF2B5EF4-FFF2-40B4-BE49-F238E27FC236}">
                <a16:creationId xmlns:a16="http://schemas.microsoft.com/office/drawing/2014/main" id="{F3687951-F6BF-E030-DC98-4F4FA73E7ABE}"/>
              </a:ext>
            </a:extLst>
          </p:cNvPr>
          <p:cNvSpPr/>
          <p:nvPr/>
        </p:nvSpPr>
        <p:spPr>
          <a:xfrm>
            <a:off x="6820383" y="4750142"/>
            <a:ext cx="357188" cy="357188"/>
          </a:xfrm>
          <a:prstGeom prst="ellipse">
            <a:avLst/>
          </a:prstGeom>
          <a:solidFill>
            <a:srgbClr val="001F6B"/>
          </a:solidFill>
          <a:ln/>
        </p:spPr>
        <p:txBody>
          <a:bodyPr/>
          <a:lstStyle/>
          <a:p>
            <a:endParaRPr lang="fr-MA"/>
          </a:p>
        </p:txBody>
      </p:sp>
      <p:sp>
        <p:nvSpPr>
          <p:cNvPr id="61" name="Text 11">
            <a:extLst>
              <a:ext uri="{FF2B5EF4-FFF2-40B4-BE49-F238E27FC236}">
                <a16:creationId xmlns:a16="http://schemas.microsoft.com/office/drawing/2014/main" id="{9E669ABA-C1BA-D06F-B4AE-51E49298BF5F}"/>
              </a:ext>
            </a:extLst>
          </p:cNvPr>
          <p:cNvSpPr/>
          <p:nvPr/>
        </p:nvSpPr>
        <p:spPr>
          <a:xfrm>
            <a:off x="7284726" y="4721582"/>
            <a:ext cx="2138406" cy="215444"/>
          </a:xfrm>
          <a:prstGeom prst="rect">
            <a:avLst/>
          </a:prstGeom>
          <a:noFill/>
          <a:ln/>
        </p:spPr>
        <p:txBody>
          <a:bodyPr wrap="none" lIns="0" tIns="0" rIns="0" bIns="0" rtlCol="0" anchor="ctr">
            <a:spAutoFit/>
          </a:bodyPr>
          <a:lstStyle/>
          <a:p>
            <a:r>
              <a:rPr lang="en-US" sz="1400" b="1" dirty="0">
                <a:solidFill>
                  <a:srgbClr val="212529"/>
                </a:solidFill>
                <a:latin typeface="Noto Sans" pitchFamily="34" charset="0"/>
                <a:ea typeface="Noto Sans" pitchFamily="34" charset="-122"/>
                <a:cs typeface="Noto Sans" pitchFamily="34" charset="-120"/>
              </a:rPr>
              <a:t>Graph Neural Networks</a:t>
            </a:r>
            <a:endParaRPr lang="en-US" sz="1400" dirty="0"/>
          </a:p>
        </p:txBody>
      </p:sp>
      <p:sp>
        <p:nvSpPr>
          <p:cNvPr id="62" name="Text 12">
            <a:extLst>
              <a:ext uri="{FF2B5EF4-FFF2-40B4-BE49-F238E27FC236}">
                <a16:creationId xmlns:a16="http://schemas.microsoft.com/office/drawing/2014/main" id="{4B2F50D2-FB2B-4705-ABD9-52A2A9F0F14C}"/>
              </a:ext>
            </a:extLst>
          </p:cNvPr>
          <p:cNvSpPr/>
          <p:nvPr/>
        </p:nvSpPr>
        <p:spPr>
          <a:xfrm>
            <a:off x="7284726" y="4970667"/>
            <a:ext cx="4135748" cy="184666"/>
          </a:xfrm>
          <a:prstGeom prst="rect">
            <a:avLst/>
          </a:prstGeom>
          <a:noFill/>
          <a:ln/>
        </p:spPr>
        <p:txBody>
          <a:bodyPr wrap="none" lIns="0" tIns="0" rIns="0" bIns="0" rtlCol="0" anchor="ctr">
            <a:spAutoFit/>
          </a:bodyPr>
          <a:lstStyle/>
          <a:p>
            <a:r>
              <a:rPr lang="en-US" sz="1200" dirty="0">
                <a:solidFill>
                  <a:srgbClr val="495057"/>
                </a:solidFill>
                <a:latin typeface="Noto Sans" pitchFamily="34" charset="0"/>
                <a:ea typeface="Noto Sans" pitchFamily="34" charset="-122"/>
                <a:cs typeface="Noto Sans" pitchFamily="34" charset="-120"/>
              </a:rPr>
              <a:t>For modeling complex dependencies between sequences</a:t>
            </a:r>
            <a:endParaRPr lang="en-US" sz="1200" dirty="0"/>
          </a:p>
        </p:txBody>
      </p:sp>
      <p:pic>
        <p:nvPicPr>
          <p:cNvPr id="63" name="Image 62">
            <a:extLst>
              <a:ext uri="{FF2B5EF4-FFF2-40B4-BE49-F238E27FC236}">
                <a16:creationId xmlns:a16="http://schemas.microsoft.com/office/drawing/2014/main" id="{9F4C098B-8C9F-E9AA-3881-F06F70CA4731}"/>
              </a:ext>
            </a:extLst>
          </p:cNvPr>
          <p:cNvPicPr>
            <a:picLocks noChangeAspect="1"/>
          </p:cNvPicPr>
          <p:nvPr/>
        </p:nvPicPr>
        <p:blipFill>
          <a:blip r:embed="rId2"/>
          <a:stretch>
            <a:fillRect/>
          </a:stretch>
        </p:blipFill>
        <p:spPr>
          <a:xfrm>
            <a:off x="0" y="6436639"/>
            <a:ext cx="1096360" cy="430983"/>
          </a:xfrm>
          <a:prstGeom prst="rect">
            <a:avLst/>
          </a:prstGeom>
        </p:spPr>
      </p:pic>
    </p:spTree>
    <p:extLst>
      <p:ext uri="{BB962C8B-B14F-4D97-AF65-F5344CB8AC3E}">
        <p14:creationId xmlns:p14="http://schemas.microsoft.com/office/powerpoint/2010/main" val="2255608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09A6E-3AE5-A4F4-EBF6-A6D2930976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19CB69-4A77-879B-85A0-B8122C2D0EDF}"/>
              </a:ext>
            </a:extLst>
          </p:cNvPr>
          <p:cNvSpPr>
            <a:spLocks noGrp="1"/>
          </p:cNvSpPr>
          <p:nvPr>
            <p:ph type="title"/>
          </p:nvPr>
        </p:nvSpPr>
        <p:spPr/>
        <p:txBody>
          <a:bodyPr>
            <a:normAutofit/>
          </a:bodyPr>
          <a:lstStyle/>
          <a:p>
            <a:r>
              <a:rPr lang="en-US" sz="2400" b="1" dirty="0">
                <a:solidFill>
                  <a:schemeClr val="bg1"/>
                </a:solidFill>
                <a:latin typeface="+mj-lt"/>
                <a:ea typeface="Roboto" pitchFamily="34" charset="-122"/>
                <a:cs typeface="Roboto" pitchFamily="34" charset="-120"/>
              </a:rPr>
              <a:t>System Architecture: From Data to Insights</a:t>
            </a:r>
          </a:p>
        </p:txBody>
      </p:sp>
      <p:pic>
        <p:nvPicPr>
          <p:cNvPr id="63" name="Image 62">
            <a:extLst>
              <a:ext uri="{FF2B5EF4-FFF2-40B4-BE49-F238E27FC236}">
                <a16:creationId xmlns:a16="http://schemas.microsoft.com/office/drawing/2014/main" id="{C52A1164-1267-77E7-03F8-A23851EA32E8}"/>
              </a:ext>
            </a:extLst>
          </p:cNvPr>
          <p:cNvPicPr>
            <a:picLocks noChangeAspect="1"/>
          </p:cNvPicPr>
          <p:nvPr/>
        </p:nvPicPr>
        <p:blipFill>
          <a:blip r:embed="rId2"/>
          <a:stretch>
            <a:fillRect/>
          </a:stretch>
        </p:blipFill>
        <p:spPr>
          <a:xfrm>
            <a:off x="0" y="6436639"/>
            <a:ext cx="1096360" cy="430983"/>
          </a:xfrm>
          <a:prstGeom prst="rect">
            <a:avLst/>
          </a:prstGeom>
        </p:spPr>
      </p:pic>
      <p:sp>
        <p:nvSpPr>
          <p:cNvPr id="3" name="Text 1">
            <a:extLst>
              <a:ext uri="{FF2B5EF4-FFF2-40B4-BE49-F238E27FC236}">
                <a16:creationId xmlns:a16="http://schemas.microsoft.com/office/drawing/2014/main" id="{A4D2E020-C3DA-26FA-B540-1253C39B334F}"/>
              </a:ext>
            </a:extLst>
          </p:cNvPr>
          <p:cNvSpPr/>
          <p:nvPr/>
        </p:nvSpPr>
        <p:spPr>
          <a:xfrm>
            <a:off x="290802" y="1273225"/>
            <a:ext cx="2190343" cy="276999"/>
          </a:xfrm>
          <a:prstGeom prst="rect">
            <a:avLst/>
          </a:prstGeom>
          <a:noFill/>
          <a:ln/>
        </p:spPr>
        <p:txBody>
          <a:bodyPr wrap="none" lIns="0" tIns="0" rIns="0" bIns="0" rtlCol="0" anchor="ctr">
            <a:spAutoFit/>
          </a:bodyPr>
          <a:lstStyle/>
          <a:p>
            <a:pPr marL="0" indent="0">
              <a:buNone/>
            </a:pPr>
            <a:r>
              <a:rPr lang="en-US" b="1" dirty="0">
                <a:solidFill>
                  <a:srgbClr val="001F6B"/>
                </a:solidFill>
                <a:ea typeface="Roboto" pitchFamily="34" charset="-122"/>
                <a:cs typeface="Roboto" pitchFamily="34" charset="-120"/>
              </a:rPr>
              <a:t>System Components</a:t>
            </a:r>
            <a:endParaRPr lang="en-US" dirty="0">
              <a:solidFill>
                <a:srgbClr val="001F6B"/>
              </a:solidFill>
            </a:endParaRPr>
          </a:p>
        </p:txBody>
      </p:sp>
      <p:sp>
        <p:nvSpPr>
          <p:cNvPr id="4" name="Text 2">
            <a:extLst>
              <a:ext uri="{FF2B5EF4-FFF2-40B4-BE49-F238E27FC236}">
                <a16:creationId xmlns:a16="http://schemas.microsoft.com/office/drawing/2014/main" id="{2A1C408D-752E-15D8-5AE2-70847D5E8C1E}"/>
              </a:ext>
            </a:extLst>
          </p:cNvPr>
          <p:cNvSpPr/>
          <p:nvPr/>
        </p:nvSpPr>
        <p:spPr>
          <a:xfrm>
            <a:off x="290802" y="1637407"/>
            <a:ext cx="6367650" cy="2154436"/>
          </a:xfrm>
          <a:prstGeom prst="rect">
            <a:avLst/>
          </a:prstGeom>
          <a:noFill/>
          <a:ln/>
        </p:spPr>
        <p:txBody>
          <a:bodyPr wrap="square" lIns="0" tIns="0" rIns="0" bIns="0" rtlCol="0" anchor="ctr">
            <a:spAutoFit/>
          </a:bodyPr>
          <a:lstStyle/>
          <a:p>
            <a:r>
              <a:rPr lang="en-US" sz="1400" b="1" dirty="0"/>
              <a:t>Data Source:</a:t>
            </a:r>
            <a:r>
              <a:rPr lang="en-US" sz="1400" dirty="0"/>
              <a:t> PLC/OPC sensor data from the KE-L1 ALS Furnace and conveyor systems</a:t>
            </a:r>
          </a:p>
          <a:p>
            <a:r>
              <a:rPr lang="en-US" sz="1400" b="1" dirty="0"/>
              <a:t>Data Acquisition Engine:</a:t>
            </a:r>
            <a:r>
              <a:rPr lang="en-US" sz="1400" dirty="0"/>
              <a:t> Multithreaded and </a:t>
            </a:r>
            <a:r>
              <a:rPr lang="en-US" sz="1400" dirty="0" err="1"/>
              <a:t>multiprocessed</a:t>
            </a:r>
            <a:r>
              <a:rPr lang="en-US" sz="1400" dirty="0"/>
              <a:t> system to collect and store tag data in real-time</a:t>
            </a:r>
          </a:p>
          <a:p>
            <a:r>
              <a:rPr lang="en-US" sz="1400" b="1" dirty="0"/>
              <a:t>Preprocessing Module:</a:t>
            </a:r>
            <a:r>
              <a:rPr lang="en-US" sz="1400" dirty="0"/>
              <a:t> JSON rule checker to validate data sequence integrity</a:t>
            </a:r>
          </a:p>
          <a:p>
            <a:r>
              <a:rPr lang="en-US" sz="1400" b="1" dirty="0"/>
              <a:t>Cross-Validation System:</a:t>
            </a:r>
            <a:r>
              <a:rPr lang="en-US" sz="1400" dirty="0"/>
              <a:t> Combines logs, rules, and data structure checks</a:t>
            </a:r>
          </a:p>
          <a:p>
            <a:r>
              <a:rPr lang="en-US" sz="1400" b="1" dirty="0"/>
              <a:t>Visualization:</a:t>
            </a:r>
            <a:r>
              <a:rPr lang="en-US" sz="1400" dirty="0"/>
              <a:t> Power BI dashboard for real-time monitoring and insights</a:t>
            </a:r>
          </a:p>
          <a:p>
            <a:r>
              <a:rPr lang="en-US" sz="1400" b="1" dirty="0"/>
              <a:t>Notification:</a:t>
            </a:r>
            <a:r>
              <a:rPr lang="en-US" sz="1400" dirty="0"/>
              <a:t> Telegram bot sends alerts when validation or rule checks fail</a:t>
            </a:r>
          </a:p>
          <a:p>
            <a:r>
              <a:rPr lang="en-US" sz="1400" b="1" dirty="0"/>
              <a:t>Feedback System:</a:t>
            </a:r>
            <a:r>
              <a:rPr lang="en-US" sz="1400" dirty="0"/>
              <a:t> Operators can verify or correct alerts, improving accuracy over time</a:t>
            </a:r>
          </a:p>
        </p:txBody>
      </p:sp>
      <p:sp>
        <p:nvSpPr>
          <p:cNvPr id="5" name="Text 3">
            <a:extLst>
              <a:ext uri="{FF2B5EF4-FFF2-40B4-BE49-F238E27FC236}">
                <a16:creationId xmlns:a16="http://schemas.microsoft.com/office/drawing/2014/main" id="{E2B9EDA1-4084-AAE1-A81F-5D97A5B0D658}"/>
              </a:ext>
            </a:extLst>
          </p:cNvPr>
          <p:cNvSpPr/>
          <p:nvPr/>
        </p:nvSpPr>
        <p:spPr>
          <a:xfrm>
            <a:off x="1386391" y="2178844"/>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6" name="Text 4">
            <a:extLst>
              <a:ext uri="{FF2B5EF4-FFF2-40B4-BE49-F238E27FC236}">
                <a16:creationId xmlns:a16="http://schemas.microsoft.com/office/drawing/2014/main" id="{BC222D52-5568-C383-6C8A-87694631A688}"/>
              </a:ext>
            </a:extLst>
          </p:cNvPr>
          <p:cNvSpPr/>
          <p:nvPr/>
        </p:nvSpPr>
        <p:spPr>
          <a:xfrm>
            <a:off x="540833" y="2500312"/>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8" name="Text 6">
            <a:extLst>
              <a:ext uri="{FF2B5EF4-FFF2-40B4-BE49-F238E27FC236}">
                <a16:creationId xmlns:a16="http://schemas.microsoft.com/office/drawing/2014/main" id="{5DA9962A-8E89-B280-9E76-F809ABA10A11}"/>
              </a:ext>
            </a:extLst>
          </p:cNvPr>
          <p:cNvSpPr/>
          <p:nvPr/>
        </p:nvSpPr>
        <p:spPr>
          <a:xfrm>
            <a:off x="540833" y="2714625"/>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9" name="Text 7">
            <a:extLst>
              <a:ext uri="{FF2B5EF4-FFF2-40B4-BE49-F238E27FC236}">
                <a16:creationId xmlns:a16="http://schemas.microsoft.com/office/drawing/2014/main" id="{F3ABFCD4-B6AD-EA0E-0CAA-31C826285476}"/>
              </a:ext>
            </a:extLst>
          </p:cNvPr>
          <p:cNvSpPr/>
          <p:nvPr/>
        </p:nvSpPr>
        <p:spPr>
          <a:xfrm>
            <a:off x="505115" y="3036094"/>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10" name="Text 8">
            <a:extLst>
              <a:ext uri="{FF2B5EF4-FFF2-40B4-BE49-F238E27FC236}">
                <a16:creationId xmlns:a16="http://schemas.microsoft.com/office/drawing/2014/main" id="{CD292640-7C8B-E3B3-1E12-9C43FB35BB07}"/>
              </a:ext>
            </a:extLst>
          </p:cNvPr>
          <p:cNvSpPr/>
          <p:nvPr/>
        </p:nvSpPr>
        <p:spPr>
          <a:xfrm>
            <a:off x="1240084" y="3036094"/>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18" name="Text 9">
            <a:extLst>
              <a:ext uri="{FF2B5EF4-FFF2-40B4-BE49-F238E27FC236}">
                <a16:creationId xmlns:a16="http://schemas.microsoft.com/office/drawing/2014/main" id="{6B19CA50-07EA-82C7-BC29-B775F51CBA58}"/>
              </a:ext>
            </a:extLst>
          </p:cNvPr>
          <p:cNvSpPr/>
          <p:nvPr/>
        </p:nvSpPr>
        <p:spPr>
          <a:xfrm>
            <a:off x="505115" y="3250406"/>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19" name="Text 10">
            <a:extLst>
              <a:ext uri="{FF2B5EF4-FFF2-40B4-BE49-F238E27FC236}">
                <a16:creationId xmlns:a16="http://schemas.microsoft.com/office/drawing/2014/main" id="{B7F9BC63-9BE3-DFA1-9CE8-22265D00CB43}"/>
              </a:ext>
            </a:extLst>
          </p:cNvPr>
          <p:cNvSpPr/>
          <p:nvPr/>
        </p:nvSpPr>
        <p:spPr>
          <a:xfrm>
            <a:off x="505115" y="3571875"/>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0" name="Text 11">
            <a:extLst>
              <a:ext uri="{FF2B5EF4-FFF2-40B4-BE49-F238E27FC236}">
                <a16:creationId xmlns:a16="http://schemas.microsoft.com/office/drawing/2014/main" id="{318BF059-7110-7C39-E61A-D6EC2C66A7E9}"/>
              </a:ext>
            </a:extLst>
          </p:cNvPr>
          <p:cNvSpPr/>
          <p:nvPr/>
        </p:nvSpPr>
        <p:spPr>
          <a:xfrm>
            <a:off x="1464526" y="3571875"/>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1" name="Text 12">
            <a:extLst>
              <a:ext uri="{FF2B5EF4-FFF2-40B4-BE49-F238E27FC236}">
                <a16:creationId xmlns:a16="http://schemas.microsoft.com/office/drawing/2014/main" id="{FF7507EA-DAEB-7E44-95CF-318FB37D2CE3}"/>
              </a:ext>
            </a:extLst>
          </p:cNvPr>
          <p:cNvSpPr/>
          <p:nvPr/>
        </p:nvSpPr>
        <p:spPr>
          <a:xfrm>
            <a:off x="505115" y="3893344"/>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2" name="Text 13">
            <a:extLst>
              <a:ext uri="{FF2B5EF4-FFF2-40B4-BE49-F238E27FC236}">
                <a16:creationId xmlns:a16="http://schemas.microsoft.com/office/drawing/2014/main" id="{806538E8-8529-CA0C-82B4-A6D8BDF38CEE}"/>
              </a:ext>
            </a:extLst>
          </p:cNvPr>
          <p:cNvSpPr/>
          <p:nvPr/>
        </p:nvSpPr>
        <p:spPr>
          <a:xfrm>
            <a:off x="1777288" y="3893344"/>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3" name="Text 14">
            <a:extLst>
              <a:ext uri="{FF2B5EF4-FFF2-40B4-BE49-F238E27FC236}">
                <a16:creationId xmlns:a16="http://schemas.microsoft.com/office/drawing/2014/main" id="{04E92026-EAFF-73C2-2F1E-67932A0188CC}"/>
              </a:ext>
            </a:extLst>
          </p:cNvPr>
          <p:cNvSpPr/>
          <p:nvPr/>
        </p:nvSpPr>
        <p:spPr>
          <a:xfrm>
            <a:off x="505115" y="4107656"/>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4" name="Text 15">
            <a:extLst>
              <a:ext uri="{FF2B5EF4-FFF2-40B4-BE49-F238E27FC236}">
                <a16:creationId xmlns:a16="http://schemas.microsoft.com/office/drawing/2014/main" id="{224A4DAD-919C-467F-6A7E-EBB9A7BFB995}"/>
              </a:ext>
            </a:extLst>
          </p:cNvPr>
          <p:cNvSpPr/>
          <p:nvPr/>
        </p:nvSpPr>
        <p:spPr>
          <a:xfrm>
            <a:off x="290802" y="3879026"/>
            <a:ext cx="1033296" cy="276999"/>
          </a:xfrm>
          <a:prstGeom prst="rect">
            <a:avLst/>
          </a:prstGeom>
          <a:noFill/>
          <a:ln/>
        </p:spPr>
        <p:txBody>
          <a:bodyPr wrap="none" lIns="0" tIns="0" rIns="0" bIns="0" rtlCol="0" anchor="ctr">
            <a:spAutoFit/>
          </a:bodyPr>
          <a:lstStyle/>
          <a:p>
            <a:pPr marL="0" indent="0">
              <a:buNone/>
            </a:pPr>
            <a:r>
              <a:rPr lang="en-US" b="1" dirty="0">
                <a:solidFill>
                  <a:srgbClr val="001F6B"/>
                </a:solidFill>
                <a:latin typeface="Roboto" pitchFamily="34" charset="0"/>
                <a:ea typeface="Roboto" pitchFamily="34" charset="-122"/>
                <a:cs typeface="Roboto" pitchFamily="34" charset="-120"/>
              </a:rPr>
              <a:t>Data </a:t>
            </a:r>
            <a:r>
              <a:rPr lang="en-US" b="1" dirty="0">
                <a:solidFill>
                  <a:srgbClr val="001F6B"/>
                </a:solidFill>
                <a:ea typeface="Roboto" pitchFamily="34" charset="-122"/>
                <a:cs typeface="Roboto" pitchFamily="34" charset="-120"/>
              </a:rPr>
              <a:t>Flow</a:t>
            </a:r>
            <a:endParaRPr lang="en-US" dirty="0">
              <a:solidFill>
                <a:srgbClr val="001F6B"/>
              </a:solidFill>
            </a:endParaRPr>
          </a:p>
        </p:txBody>
      </p:sp>
      <p:sp>
        <p:nvSpPr>
          <p:cNvPr id="25" name="Text 16">
            <a:extLst>
              <a:ext uri="{FF2B5EF4-FFF2-40B4-BE49-F238E27FC236}">
                <a16:creationId xmlns:a16="http://schemas.microsoft.com/office/drawing/2014/main" id="{9D32CB4A-70E2-306F-1A17-FDD85F08F7A5}"/>
              </a:ext>
            </a:extLst>
          </p:cNvPr>
          <p:cNvSpPr/>
          <p:nvPr/>
        </p:nvSpPr>
        <p:spPr>
          <a:xfrm>
            <a:off x="290802" y="4277083"/>
            <a:ext cx="6260560" cy="1477328"/>
          </a:xfrm>
          <a:prstGeom prst="rect">
            <a:avLst/>
          </a:prstGeom>
          <a:noFill/>
          <a:ln/>
        </p:spPr>
        <p:txBody>
          <a:bodyPr wrap="none" lIns="0" tIns="0" rIns="0" bIns="0" rtlCol="0" anchor="ctr">
            <a:spAutoFit/>
          </a:bodyPr>
          <a:lstStyle/>
          <a:p>
            <a:r>
              <a:rPr lang="en-US" sz="1600" dirty="0"/>
              <a:t>➤ Real-time collection of tag data using threads and multiprocessing</a:t>
            </a:r>
            <a:br>
              <a:rPr lang="en-US" sz="1600" dirty="0"/>
            </a:br>
            <a:r>
              <a:rPr lang="en-US" sz="1600" dirty="0"/>
              <a:t>➤ Data is structured with timestamps and stored in a database/table</a:t>
            </a:r>
            <a:br>
              <a:rPr lang="en-US" sz="1600" dirty="0"/>
            </a:br>
            <a:r>
              <a:rPr lang="en-US" sz="1600" dirty="0"/>
              <a:t>➤ Validation of data using JSON rules and logs</a:t>
            </a:r>
            <a:br>
              <a:rPr lang="en-US" sz="1600" dirty="0"/>
            </a:br>
            <a:r>
              <a:rPr lang="en-US" sz="1600" dirty="0"/>
              <a:t>➤ If issues found, the Telegram bot sends immediate notifications</a:t>
            </a:r>
            <a:br>
              <a:rPr lang="en-US" sz="1600" dirty="0"/>
            </a:br>
            <a:r>
              <a:rPr lang="en-US" sz="1600" dirty="0"/>
              <a:t>➤ Data is visualized in Power BI for human monitoring</a:t>
            </a:r>
            <a:br>
              <a:rPr lang="en-US" sz="1600" dirty="0"/>
            </a:br>
            <a:r>
              <a:rPr lang="en-US" sz="1600" dirty="0"/>
              <a:t>➤ Operator feedback is used to refine alerts and improve rule accuracy</a:t>
            </a:r>
            <a:endParaRPr lang="en-US" sz="1500" dirty="0"/>
          </a:p>
        </p:txBody>
      </p:sp>
      <p:sp>
        <p:nvSpPr>
          <p:cNvPr id="26" name="Text 17">
            <a:extLst>
              <a:ext uri="{FF2B5EF4-FFF2-40B4-BE49-F238E27FC236}">
                <a16:creationId xmlns:a16="http://schemas.microsoft.com/office/drawing/2014/main" id="{EFEB5464-3C28-4A83-40ED-6743F838BA38}"/>
              </a:ext>
            </a:extLst>
          </p:cNvPr>
          <p:cNvSpPr/>
          <p:nvPr/>
        </p:nvSpPr>
        <p:spPr>
          <a:xfrm>
            <a:off x="487255" y="5151537"/>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7" name="Text 18">
            <a:extLst>
              <a:ext uri="{FF2B5EF4-FFF2-40B4-BE49-F238E27FC236}">
                <a16:creationId xmlns:a16="http://schemas.microsoft.com/office/drawing/2014/main" id="{DD41228C-F1A0-058D-7808-9937A12DCF36}"/>
              </a:ext>
            </a:extLst>
          </p:cNvPr>
          <p:cNvSpPr/>
          <p:nvPr/>
        </p:nvSpPr>
        <p:spPr>
          <a:xfrm>
            <a:off x="487255" y="5473006"/>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8" name="Text 19">
            <a:extLst>
              <a:ext uri="{FF2B5EF4-FFF2-40B4-BE49-F238E27FC236}">
                <a16:creationId xmlns:a16="http://schemas.microsoft.com/office/drawing/2014/main" id="{2866C5F4-597C-D539-28E5-75A92FEE652C}"/>
              </a:ext>
            </a:extLst>
          </p:cNvPr>
          <p:cNvSpPr/>
          <p:nvPr/>
        </p:nvSpPr>
        <p:spPr>
          <a:xfrm>
            <a:off x="487255" y="5301822"/>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9" name="Text 20">
            <a:extLst>
              <a:ext uri="{FF2B5EF4-FFF2-40B4-BE49-F238E27FC236}">
                <a16:creationId xmlns:a16="http://schemas.microsoft.com/office/drawing/2014/main" id="{ADDAC25A-6005-8212-96BD-B86F933A7CA6}"/>
              </a:ext>
            </a:extLst>
          </p:cNvPr>
          <p:cNvSpPr/>
          <p:nvPr/>
        </p:nvSpPr>
        <p:spPr>
          <a:xfrm>
            <a:off x="487255" y="5623290"/>
            <a:ext cx="65" cy="160941"/>
          </a:xfrm>
          <a:prstGeom prst="rect">
            <a:avLst/>
          </a:prstGeom>
          <a:noFill/>
          <a:ln/>
        </p:spPr>
        <p:txBody>
          <a:bodyPr wrap="none" lIns="0" tIns="0" rIns="0" bIns="0" rtlCol="0" anchor="ctr">
            <a:spAutoFit/>
          </a:bodyPr>
          <a:lstStyle/>
          <a:p>
            <a:pPr marL="0" indent="0" algn="l">
              <a:buNone/>
            </a:pPr>
            <a:endParaRPr lang="en-US" sz="1046" dirty="0"/>
          </a:p>
        </p:txBody>
      </p:sp>
      <p:pic>
        <p:nvPicPr>
          <p:cNvPr id="7" name="Image 6">
            <a:extLst>
              <a:ext uri="{FF2B5EF4-FFF2-40B4-BE49-F238E27FC236}">
                <a16:creationId xmlns:a16="http://schemas.microsoft.com/office/drawing/2014/main" id="{09C212BD-5C80-E057-CB0F-B922B7831322}"/>
              </a:ext>
            </a:extLst>
          </p:cNvPr>
          <p:cNvPicPr>
            <a:picLocks noChangeAspect="1"/>
          </p:cNvPicPr>
          <p:nvPr/>
        </p:nvPicPr>
        <p:blipFill>
          <a:blip r:embed="rId3">
            <a:extLst>
              <a:ext uri="{28A0092B-C50C-407E-A947-70E740481C1C}">
                <a14:useLocalDpi xmlns:a14="http://schemas.microsoft.com/office/drawing/2010/main" val="0"/>
              </a:ext>
            </a:extLst>
          </a:blip>
          <a:srcRect l="28887" t="-149" b="276"/>
          <a:stretch>
            <a:fillRect/>
          </a:stretch>
        </p:blipFill>
        <p:spPr>
          <a:xfrm>
            <a:off x="6747815" y="1105227"/>
            <a:ext cx="5387743" cy="4647545"/>
          </a:xfrm>
          <a:prstGeom prst="rect">
            <a:avLst/>
          </a:prstGeom>
        </p:spPr>
      </p:pic>
    </p:spTree>
    <p:extLst>
      <p:ext uri="{BB962C8B-B14F-4D97-AF65-F5344CB8AC3E}">
        <p14:creationId xmlns:p14="http://schemas.microsoft.com/office/powerpoint/2010/main" val="161340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BF33-2DE6-838A-3074-011A5F7AF8ED}"/>
            </a:ext>
          </a:extLst>
        </p:cNvPr>
        <p:cNvGrpSpPr/>
        <p:nvPr/>
      </p:nvGrpSpPr>
      <p:grpSpPr>
        <a:xfrm>
          <a:off x="0" y="0"/>
          <a:ext cx="0" cy="0"/>
          <a:chOff x="0" y="0"/>
          <a:chExt cx="0" cy="0"/>
        </a:xfrm>
      </p:grpSpPr>
      <p:sp>
        <p:nvSpPr>
          <p:cNvPr id="67" name="Shape 2">
            <a:extLst>
              <a:ext uri="{FF2B5EF4-FFF2-40B4-BE49-F238E27FC236}">
                <a16:creationId xmlns:a16="http://schemas.microsoft.com/office/drawing/2014/main" id="{14D3DF3D-2B4F-C09C-B693-87A4E10A9E1A}"/>
              </a:ext>
            </a:extLst>
          </p:cNvPr>
          <p:cNvSpPr/>
          <p:nvPr/>
        </p:nvSpPr>
        <p:spPr>
          <a:xfrm>
            <a:off x="566738" y="4869324"/>
            <a:ext cx="2549524" cy="1353036"/>
          </a:xfrm>
          <a:prstGeom prst="rect">
            <a:avLst/>
          </a:prstGeom>
          <a:solidFill>
            <a:srgbClr val="2A9D8F">
              <a:alpha val="5000"/>
            </a:srgbClr>
          </a:solidFill>
          <a:ln/>
        </p:spPr>
        <p:txBody>
          <a:bodyPr/>
          <a:lstStyle/>
          <a:p>
            <a:endParaRPr lang="fr-MA" dirty="0"/>
          </a:p>
        </p:txBody>
      </p:sp>
      <p:sp>
        <p:nvSpPr>
          <p:cNvPr id="62" name="Shape 2">
            <a:extLst>
              <a:ext uri="{FF2B5EF4-FFF2-40B4-BE49-F238E27FC236}">
                <a16:creationId xmlns:a16="http://schemas.microsoft.com/office/drawing/2014/main" id="{9B07E4CE-934E-94F2-6D22-BAF2A11A0779}"/>
              </a:ext>
            </a:extLst>
          </p:cNvPr>
          <p:cNvSpPr/>
          <p:nvPr/>
        </p:nvSpPr>
        <p:spPr>
          <a:xfrm>
            <a:off x="3224311" y="3343391"/>
            <a:ext cx="2549524" cy="1353036"/>
          </a:xfrm>
          <a:prstGeom prst="rect">
            <a:avLst/>
          </a:prstGeom>
          <a:solidFill>
            <a:srgbClr val="2A9D8F">
              <a:alpha val="5000"/>
            </a:srgbClr>
          </a:solidFill>
          <a:ln/>
        </p:spPr>
        <p:txBody>
          <a:bodyPr/>
          <a:lstStyle/>
          <a:p>
            <a:endParaRPr lang="fr-MA" dirty="0"/>
          </a:p>
        </p:txBody>
      </p:sp>
      <p:sp>
        <p:nvSpPr>
          <p:cNvPr id="56" name="Shape 2">
            <a:extLst>
              <a:ext uri="{FF2B5EF4-FFF2-40B4-BE49-F238E27FC236}">
                <a16:creationId xmlns:a16="http://schemas.microsoft.com/office/drawing/2014/main" id="{C7488C43-05CF-B39B-A38D-1F08909F4DA7}"/>
              </a:ext>
            </a:extLst>
          </p:cNvPr>
          <p:cNvSpPr/>
          <p:nvPr/>
        </p:nvSpPr>
        <p:spPr>
          <a:xfrm>
            <a:off x="566738" y="3343391"/>
            <a:ext cx="2549524" cy="1353036"/>
          </a:xfrm>
          <a:prstGeom prst="rect">
            <a:avLst/>
          </a:prstGeom>
          <a:solidFill>
            <a:srgbClr val="2A9D8F">
              <a:alpha val="5000"/>
            </a:srgbClr>
          </a:solidFill>
          <a:ln/>
        </p:spPr>
        <p:txBody>
          <a:bodyPr/>
          <a:lstStyle/>
          <a:p>
            <a:endParaRPr lang="fr-MA" dirty="0"/>
          </a:p>
        </p:txBody>
      </p:sp>
      <p:sp>
        <p:nvSpPr>
          <p:cNvPr id="46" name="Shape 2">
            <a:extLst>
              <a:ext uri="{FF2B5EF4-FFF2-40B4-BE49-F238E27FC236}">
                <a16:creationId xmlns:a16="http://schemas.microsoft.com/office/drawing/2014/main" id="{D8F051B7-EF90-649E-2B7F-4E9ABE708CC6}"/>
              </a:ext>
            </a:extLst>
          </p:cNvPr>
          <p:cNvSpPr/>
          <p:nvPr/>
        </p:nvSpPr>
        <p:spPr>
          <a:xfrm>
            <a:off x="3224311" y="1829368"/>
            <a:ext cx="2549524" cy="1353036"/>
          </a:xfrm>
          <a:prstGeom prst="rect">
            <a:avLst/>
          </a:prstGeom>
          <a:solidFill>
            <a:srgbClr val="2A9D8F">
              <a:alpha val="5000"/>
            </a:srgbClr>
          </a:solidFill>
          <a:ln/>
        </p:spPr>
        <p:txBody>
          <a:bodyPr/>
          <a:lstStyle/>
          <a:p>
            <a:endParaRPr lang="fr-MA" dirty="0"/>
          </a:p>
        </p:txBody>
      </p:sp>
      <p:sp>
        <p:nvSpPr>
          <p:cNvPr id="2" name="Titre 1">
            <a:extLst>
              <a:ext uri="{FF2B5EF4-FFF2-40B4-BE49-F238E27FC236}">
                <a16:creationId xmlns:a16="http://schemas.microsoft.com/office/drawing/2014/main" id="{82B1EB0C-EB15-2C84-089C-7E58A19A71CC}"/>
              </a:ext>
            </a:extLst>
          </p:cNvPr>
          <p:cNvSpPr>
            <a:spLocks noGrp="1"/>
          </p:cNvSpPr>
          <p:nvPr>
            <p:ph type="title"/>
          </p:nvPr>
        </p:nvSpPr>
        <p:spPr/>
        <p:txBody>
          <a:bodyPr>
            <a:normAutofit/>
          </a:bodyPr>
          <a:lstStyle/>
          <a:p>
            <a:r>
              <a:rPr lang="en-US" sz="2400" b="1" dirty="0">
                <a:solidFill>
                  <a:schemeClr val="bg1"/>
                </a:solidFill>
                <a:latin typeface="+mj-lt"/>
                <a:ea typeface="Roboto" pitchFamily="34" charset="-122"/>
                <a:cs typeface="Roboto" pitchFamily="34" charset="-120"/>
              </a:rPr>
              <a:t>System Architecture: From Data to Insights</a:t>
            </a:r>
          </a:p>
        </p:txBody>
      </p:sp>
      <p:pic>
        <p:nvPicPr>
          <p:cNvPr id="63" name="Image 62">
            <a:extLst>
              <a:ext uri="{FF2B5EF4-FFF2-40B4-BE49-F238E27FC236}">
                <a16:creationId xmlns:a16="http://schemas.microsoft.com/office/drawing/2014/main" id="{52966C7F-7F6B-0352-41BE-51BF38A077DE}"/>
              </a:ext>
            </a:extLst>
          </p:cNvPr>
          <p:cNvPicPr>
            <a:picLocks noChangeAspect="1"/>
          </p:cNvPicPr>
          <p:nvPr/>
        </p:nvPicPr>
        <p:blipFill>
          <a:blip r:embed="rId3"/>
          <a:stretch>
            <a:fillRect/>
          </a:stretch>
        </p:blipFill>
        <p:spPr>
          <a:xfrm>
            <a:off x="0" y="6436639"/>
            <a:ext cx="1096360" cy="430983"/>
          </a:xfrm>
          <a:prstGeom prst="rect">
            <a:avLst/>
          </a:prstGeom>
        </p:spPr>
      </p:pic>
      <p:sp>
        <p:nvSpPr>
          <p:cNvPr id="27" name="Text 18">
            <a:extLst>
              <a:ext uri="{FF2B5EF4-FFF2-40B4-BE49-F238E27FC236}">
                <a16:creationId xmlns:a16="http://schemas.microsoft.com/office/drawing/2014/main" id="{DF160F60-C4CD-EA61-9FE3-8E3A59F31FA4}"/>
              </a:ext>
            </a:extLst>
          </p:cNvPr>
          <p:cNvSpPr/>
          <p:nvPr/>
        </p:nvSpPr>
        <p:spPr>
          <a:xfrm>
            <a:off x="487255" y="5473006"/>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8" name="Text 19">
            <a:extLst>
              <a:ext uri="{FF2B5EF4-FFF2-40B4-BE49-F238E27FC236}">
                <a16:creationId xmlns:a16="http://schemas.microsoft.com/office/drawing/2014/main" id="{E1356DC6-436F-9682-A7A2-EFB3917EF5C2}"/>
              </a:ext>
            </a:extLst>
          </p:cNvPr>
          <p:cNvSpPr/>
          <p:nvPr/>
        </p:nvSpPr>
        <p:spPr>
          <a:xfrm>
            <a:off x="487255" y="5301822"/>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29" name="Text 20">
            <a:extLst>
              <a:ext uri="{FF2B5EF4-FFF2-40B4-BE49-F238E27FC236}">
                <a16:creationId xmlns:a16="http://schemas.microsoft.com/office/drawing/2014/main" id="{EA238BCE-A80B-6B85-8D7A-F52FBEA133AF}"/>
              </a:ext>
            </a:extLst>
          </p:cNvPr>
          <p:cNvSpPr/>
          <p:nvPr/>
        </p:nvSpPr>
        <p:spPr>
          <a:xfrm>
            <a:off x="487255" y="5623290"/>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7" name="Text 1">
            <a:extLst>
              <a:ext uri="{FF2B5EF4-FFF2-40B4-BE49-F238E27FC236}">
                <a16:creationId xmlns:a16="http://schemas.microsoft.com/office/drawing/2014/main" id="{1EDB5F2F-4AEB-46A6-A9BE-F631121D416E}"/>
              </a:ext>
            </a:extLst>
          </p:cNvPr>
          <p:cNvSpPr/>
          <p:nvPr/>
        </p:nvSpPr>
        <p:spPr>
          <a:xfrm>
            <a:off x="566738" y="1180972"/>
            <a:ext cx="3971925" cy="369332"/>
          </a:xfrm>
          <a:prstGeom prst="rect">
            <a:avLst/>
          </a:prstGeom>
          <a:noFill/>
          <a:ln/>
        </p:spPr>
        <p:txBody>
          <a:bodyPr wrap="square" lIns="0" tIns="0" rIns="0" bIns="0" rtlCol="0" anchor="ctr">
            <a:spAutoFit/>
          </a:bodyPr>
          <a:lstStyle/>
          <a:p>
            <a:pPr marL="0" indent="0">
              <a:buNone/>
            </a:pPr>
            <a:r>
              <a:rPr lang="en-US" sz="2400" b="1" dirty="0">
                <a:solidFill>
                  <a:srgbClr val="001F6B"/>
                </a:solidFill>
                <a:latin typeface="+mj-lt"/>
                <a:ea typeface="Roboto" pitchFamily="34" charset="-122"/>
                <a:cs typeface="Roboto" pitchFamily="34" charset="-120"/>
              </a:rPr>
              <a:t>Key Advantages</a:t>
            </a:r>
            <a:endParaRPr lang="en-US" sz="2400" dirty="0">
              <a:solidFill>
                <a:srgbClr val="001F6B"/>
              </a:solidFill>
              <a:latin typeface="+mj-lt"/>
            </a:endParaRPr>
          </a:p>
        </p:txBody>
      </p:sp>
      <p:sp>
        <p:nvSpPr>
          <p:cNvPr id="11" name="Shape 2">
            <a:extLst>
              <a:ext uri="{FF2B5EF4-FFF2-40B4-BE49-F238E27FC236}">
                <a16:creationId xmlns:a16="http://schemas.microsoft.com/office/drawing/2014/main" id="{AD3581DC-ECE7-B41D-1929-B70641F9855F}"/>
              </a:ext>
            </a:extLst>
          </p:cNvPr>
          <p:cNvSpPr/>
          <p:nvPr/>
        </p:nvSpPr>
        <p:spPr>
          <a:xfrm>
            <a:off x="566738" y="1829368"/>
            <a:ext cx="2549524" cy="1353036"/>
          </a:xfrm>
          <a:prstGeom prst="rect">
            <a:avLst/>
          </a:prstGeom>
          <a:solidFill>
            <a:srgbClr val="2A9D8F">
              <a:alpha val="5000"/>
            </a:srgbClr>
          </a:solidFill>
          <a:ln/>
        </p:spPr>
        <p:txBody>
          <a:bodyPr/>
          <a:lstStyle/>
          <a:p>
            <a:endParaRPr lang="fr-MA" dirty="0"/>
          </a:p>
        </p:txBody>
      </p:sp>
      <p:pic>
        <p:nvPicPr>
          <p:cNvPr id="12" name="Image 1" descr="preencoded.png">
            <a:extLst>
              <a:ext uri="{FF2B5EF4-FFF2-40B4-BE49-F238E27FC236}">
                <a16:creationId xmlns:a16="http://schemas.microsoft.com/office/drawing/2014/main" id="{44AB6366-BABE-349B-6586-D925C2842BE3}"/>
              </a:ext>
            </a:extLst>
          </p:cNvPr>
          <p:cNvPicPr>
            <a:picLocks noChangeAspect="1"/>
          </p:cNvPicPr>
          <p:nvPr/>
        </p:nvPicPr>
        <p:blipFill>
          <a:blip r:embed="rId4"/>
          <a:stretch>
            <a:fillRect/>
          </a:stretch>
        </p:blipFill>
        <p:spPr>
          <a:xfrm>
            <a:off x="1413526" y="1990984"/>
            <a:ext cx="709405" cy="630583"/>
          </a:xfrm>
          <a:prstGeom prst="rect">
            <a:avLst/>
          </a:prstGeom>
        </p:spPr>
      </p:pic>
      <p:sp>
        <p:nvSpPr>
          <p:cNvPr id="13" name="Text 3">
            <a:extLst>
              <a:ext uri="{FF2B5EF4-FFF2-40B4-BE49-F238E27FC236}">
                <a16:creationId xmlns:a16="http://schemas.microsoft.com/office/drawing/2014/main" id="{365B4B7A-7387-A9F8-5A1E-AF11C968AD2A}"/>
              </a:ext>
            </a:extLst>
          </p:cNvPr>
          <p:cNvSpPr/>
          <p:nvPr/>
        </p:nvSpPr>
        <p:spPr>
          <a:xfrm>
            <a:off x="1017286" y="2727671"/>
            <a:ext cx="1501883" cy="215444"/>
          </a:xfrm>
          <a:prstGeom prst="rect">
            <a:avLst/>
          </a:prstGeom>
          <a:noFill/>
          <a:ln/>
        </p:spPr>
        <p:txBody>
          <a:bodyPr wrap="square" lIns="0" tIns="0" rIns="0" bIns="0" rtlCol="0" anchor="ctr">
            <a:spAutoFit/>
          </a:bodyPr>
          <a:lstStyle/>
          <a:p>
            <a:pPr marL="0" indent="0" algn="ctr">
              <a:buNone/>
            </a:pPr>
            <a:r>
              <a:rPr lang="en-US" sz="1400" dirty="0">
                <a:solidFill>
                  <a:srgbClr val="212529"/>
                </a:solidFill>
                <a:latin typeface="Noto Sans" pitchFamily="34" charset="0"/>
                <a:ea typeface="Noto Sans" pitchFamily="34" charset="-122"/>
                <a:cs typeface="Noto Sans" pitchFamily="34" charset="-120"/>
              </a:rPr>
              <a:t>Faster Diagnosis</a:t>
            </a:r>
            <a:endParaRPr lang="en-US" sz="1400" dirty="0"/>
          </a:p>
        </p:txBody>
      </p:sp>
      <p:pic>
        <p:nvPicPr>
          <p:cNvPr id="15" name="Image 2" descr="preencoded.png">
            <a:extLst>
              <a:ext uri="{FF2B5EF4-FFF2-40B4-BE49-F238E27FC236}">
                <a16:creationId xmlns:a16="http://schemas.microsoft.com/office/drawing/2014/main" id="{BEF97B24-398D-474B-1B3B-6750B4309566}"/>
              </a:ext>
            </a:extLst>
          </p:cNvPr>
          <p:cNvPicPr>
            <a:picLocks noChangeAspect="1"/>
          </p:cNvPicPr>
          <p:nvPr/>
        </p:nvPicPr>
        <p:blipFill>
          <a:blip r:embed="rId5"/>
          <a:stretch>
            <a:fillRect/>
          </a:stretch>
        </p:blipFill>
        <p:spPr>
          <a:xfrm>
            <a:off x="4076329" y="2032705"/>
            <a:ext cx="709405" cy="709405"/>
          </a:xfrm>
          <a:prstGeom prst="rect">
            <a:avLst/>
          </a:prstGeom>
        </p:spPr>
      </p:pic>
      <p:pic>
        <p:nvPicPr>
          <p:cNvPr id="30" name="Image 3" descr="preencoded.png">
            <a:extLst>
              <a:ext uri="{FF2B5EF4-FFF2-40B4-BE49-F238E27FC236}">
                <a16:creationId xmlns:a16="http://schemas.microsoft.com/office/drawing/2014/main" id="{D580B859-1D35-6475-36BA-D69BCB5A4030}"/>
              </a:ext>
            </a:extLst>
          </p:cNvPr>
          <p:cNvPicPr>
            <a:picLocks noChangeAspect="1"/>
          </p:cNvPicPr>
          <p:nvPr/>
        </p:nvPicPr>
        <p:blipFill>
          <a:blip r:embed="rId6"/>
          <a:stretch>
            <a:fillRect/>
          </a:stretch>
        </p:blipFill>
        <p:spPr>
          <a:xfrm>
            <a:off x="1618773" y="3516288"/>
            <a:ext cx="445454" cy="712726"/>
          </a:xfrm>
          <a:prstGeom prst="rect">
            <a:avLst/>
          </a:prstGeom>
        </p:spPr>
      </p:pic>
      <p:pic>
        <p:nvPicPr>
          <p:cNvPr id="33" name="Image 4" descr="preencoded.png">
            <a:extLst>
              <a:ext uri="{FF2B5EF4-FFF2-40B4-BE49-F238E27FC236}">
                <a16:creationId xmlns:a16="http://schemas.microsoft.com/office/drawing/2014/main" id="{BDFD58BA-33B9-4F4A-B19E-84BB9C61CBAA}"/>
              </a:ext>
            </a:extLst>
          </p:cNvPr>
          <p:cNvPicPr>
            <a:picLocks noChangeAspect="1"/>
          </p:cNvPicPr>
          <p:nvPr/>
        </p:nvPicPr>
        <p:blipFill>
          <a:blip r:embed="rId7"/>
          <a:stretch>
            <a:fillRect/>
          </a:stretch>
        </p:blipFill>
        <p:spPr>
          <a:xfrm>
            <a:off x="4137882" y="3457001"/>
            <a:ext cx="575835" cy="658098"/>
          </a:xfrm>
          <a:prstGeom prst="rect">
            <a:avLst/>
          </a:prstGeom>
        </p:spPr>
      </p:pic>
      <p:sp>
        <p:nvSpPr>
          <p:cNvPr id="34" name="Text 9">
            <a:extLst>
              <a:ext uri="{FF2B5EF4-FFF2-40B4-BE49-F238E27FC236}">
                <a16:creationId xmlns:a16="http://schemas.microsoft.com/office/drawing/2014/main" id="{398F0B6A-EBDE-314A-353A-1BA3C9E61D68}"/>
              </a:ext>
            </a:extLst>
          </p:cNvPr>
          <p:cNvSpPr/>
          <p:nvPr/>
        </p:nvSpPr>
        <p:spPr>
          <a:xfrm>
            <a:off x="7159580" y="4579636"/>
            <a:ext cx="1281633" cy="144976"/>
          </a:xfrm>
          <a:prstGeom prst="rect">
            <a:avLst/>
          </a:prstGeom>
          <a:noFill/>
          <a:ln/>
        </p:spPr>
        <p:txBody>
          <a:bodyPr wrap="square" lIns="0" tIns="0" rIns="0" bIns="0" rtlCol="0" anchor="ctr">
            <a:spAutoFit/>
          </a:bodyPr>
          <a:lstStyle/>
          <a:p>
            <a:pPr marL="0" indent="0" algn="ctr">
              <a:buNone/>
            </a:pPr>
            <a:endParaRPr lang="en-US" sz="942" dirty="0"/>
          </a:p>
        </p:txBody>
      </p:sp>
      <p:pic>
        <p:nvPicPr>
          <p:cNvPr id="36" name="Image 5" descr="preencoded.png">
            <a:extLst>
              <a:ext uri="{FF2B5EF4-FFF2-40B4-BE49-F238E27FC236}">
                <a16:creationId xmlns:a16="http://schemas.microsoft.com/office/drawing/2014/main" id="{D7A20C96-EDCA-2633-766E-BD81EA864F3D}"/>
              </a:ext>
            </a:extLst>
          </p:cNvPr>
          <p:cNvPicPr>
            <a:picLocks noChangeAspect="1"/>
          </p:cNvPicPr>
          <p:nvPr/>
        </p:nvPicPr>
        <p:blipFill>
          <a:blip r:embed="rId8"/>
          <a:stretch>
            <a:fillRect/>
          </a:stretch>
        </p:blipFill>
        <p:spPr>
          <a:xfrm>
            <a:off x="1386430" y="4961306"/>
            <a:ext cx="772526" cy="686690"/>
          </a:xfrm>
          <a:prstGeom prst="rect">
            <a:avLst/>
          </a:prstGeom>
        </p:spPr>
      </p:pic>
      <p:sp>
        <p:nvSpPr>
          <p:cNvPr id="37" name="Text 11">
            <a:extLst>
              <a:ext uri="{FF2B5EF4-FFF2-40B4-BE49-F238E27FC236}">
                <a16:creationId xmlns:a16="http://schemas.microsoft.com/office/drawing/2014/main" id="{8E4507CD-C598-FDC3-1854-1D88725AA84D}"/>
              </a:ext>
            </a:extLst>
          </p:cNvPr>
          <p:cNvSpPr/>
          <p:nvPr/>
        </p:nvSpPr>
        <p:spPr>
          <a:xfrm>
            <a:off x="6102317" y="5894391"/>
            <a:ext cx="1700213" cy="144976"/>
          </a:xfrm>
          <a:prstGeom prst="rect">
            <a:avLst/>
          </a:prstGeom>
          <a:noFill/>
          <a:ln/>
        </p:spPr>
        <p:txBody>
          <a:bodyPr wrap="square" lIns="0" tIns="0" rIns="0" bIns="0" rtlCol="0" anchor="ctr">
            <a:spAutoFit/>
          </a:bodyPr>
          <a:lstStyle/>
          <a:p>
            <a:pPr marL="0" indent="0" algn="ctr">
              <a:buNone/>
            </a:pPr>
            <a:endParaRPr lang="en-US" sz="942" dirty="0"/>
          </a:p>
        </p:txBody>
      </p:sp>
      <p:sp>
        <p:nvSpPr>
          <p:cNvPr id="40" name="Text 13">
            <a:extLst>
              <a:ext uri="{FF2B5EF4-FFF2-40B4-BE49-F238E27FC236}">
                <a16:creationId xmlns:a16="http://schemas.microsoft.com/office/drawing/2014/main" id="{8FB27B6F-0DAE-65C0-9862-EB79FDB69733}"/>
              </a:ext>
            </a:extLst>
          </p:cNvPr>
          <p:cNvSpPr/>
          <p:nvPr/>
        </p:nvSpPr>
        <p:spPr>
          <a:xfrm>
            <a:off x="8256604" y="5916206"/>
            <a:ext cx="1506410" cy="144976"/>
          </a:xfrm>
          <a:prstGeom prst="rect">
            <a:avLst/>
          </a:prstGeom>
          <a:noFill/>
          <a:ln/>
        </p:spPr>
        <p:txBody>
          <a:bodyPr wrap="square" lIns="0" tIns="0" rIns="0" bIns="0" rtlCol="0" anchor="ctr">
            <a:spAutoFit/>
          </a:bodyPr>
          <a:lstStyle/>
          <a:p>
            <a:pPr marL="0" indent="0" algn="ctr">
              <a:buNone/>
            </a:pPr>
            <a:endParaRPr lang="en-US" sz="942" dirty="0"/>
          </a:p>
        </p:txBody>
      </p:sp>
      <p:sp>
        <p:nvSpPr>
          <p:cNvPr id="41" name="Text 14">
            <a:extLst>
              <a:ext uri="{FF2B5EF4-FFF2-40B4-BE49-F238E27FC236}">
                <a16:creationId xmlns:a16="http://schemas.microsoft.com/office/drawing/2014/main" id="{5308BC91-1388-D0A1-FF17-220E2DA72EDB}"/>
              </a:ext>
            </a:extLst>
          </p:cNvPr>
          <p:cNvSpPr/>
          <p:nvPr/>
        </p:nvSpPr>
        <p:spPr>
          <a:xfrm>
            <a:off x="6096000" y="1176273"/>
            <a:ext cx="4114800" cy="369332"/>
          </a:xfrm>
          <a:prstGeom prst="rect">
            <a:avLst/>
          </a:prstGeom>
          <a:noFill/>
          <a:ln/>
        </p:spPr>
        <p:txBody>
          <a:bodyPr wrap="square" lIns="0" tIns="0" rIns="0" bIns="0" rtlCol="0" anchor="ctr">
            <a:spAutoFit/>
          </a:bodyPr>
          <a:lstStyle/>
          <a:p>
            <a:pPr marL="0" indent="0">
              <a:buNone/>
            </a:pPr>
            <a:r>
              <a:rPr lang="en-US" sz="2400" b="1" dirty="0">
                <a:solidFill>
                  <a:srgbClr val="001F6B"/>
                </a:solidFill>
                <a:latin typeface="Roboto" pitchFamily="34" charset="0"/>
                <a:ea typeface="Roboto" pitchFamily="34" charset="-122"/>
                <a:cs typeface="Roboto" pitchFamily="34" charset="-120"/>
              </a:rPr>
              <a:t>Projected Impact</a:t>
            </a:r>
            <a:endParaRPr lang="en-US" sz="2400" dirty="0">
              <a:solidFill>
                <a:srgbClr val="001F6B"/>
              </a:solidFill>
            </a:endParaRPr>
          </a:p>
        </p:txBody>
      </p:sp>
      <p:pic>
        <p:nvPicPr>
          <p:cNvPr id="42" name="Image 7" descr="preencoded.png">
            <a:extLst>
              <a:ext uri="{FF2B5EF4-FFF2-40B4-BE49-F238E27FC236}">
                <a16:creationId xmlns:a16="http://schemas.microsoft.com/office/drawing/2014/main" id="{57DCF114-CE91-F37E-4133-5561B47712A5}"/>
              </a:ext>
            </a:extLst>
          </p:cNvPr>
          <p:cNvPicPr>
            <a:picLocks noChangeAspect="1"/>
          </p:cNvPicPr>
          <p:nvPr/>
        </p:nvPicPr>
        <p:blipFill>
          <a:blip r:embed="rId9"/>
          <a:stretch>
            <a:fillRect/>
          </a:stretch>
        </p:blipFill>
        <p:spPr>
          <a:xfrm>
            <a:off x="5852360" y="1919325"/>
            <a:ext cx="6049682" cy="4201168"/>
          </a:xfrm>
          <a:prstGeom prst="rect">
            <a:avLst/>
          </a:prstGeom>
        </p:spPr>
      </p:pic>
      <p:sp>
        <p:nvSpPr>
          <p:cNvPr id="48" name="Text 3">
            <a:extLst>
              <a:ext uri="{FF2B5EF4-FFF2-40B4-BE49-F238E27FC236}">
                <a16:creationId xmlns:a16="http://schemas.microsoft.com/office/drawing/2014/main" id="{E4E8E0D3-8A6C-0ED3-3E29-16CF7893DFB8}"/>
              </a:ext>
            </a:extLst>
          </p:cNvPr>
          <p:cNvSpPr/>
          <p:nvPr/>
        </p:nvSpPr>
        <p:spPr>
          <a:xfrm>
            <a:off x="3674859" y="2727671"/>
            <a:ext cx="1501883" cy="215444"/>
          </a:xfrm>
          <a:prstGeom prst="rect">
            <a:avLst/>
          </a:prstGeom>
          <a:noFill/>
          <a:ln/>
        </p:spPr>
        <p:txBody>
          <a:bodyPr wrap="square" lIns="0" tIns="0" rIns="0" bIns="0" rtlCol="0" anchor="ctr">
            <a:spAutoFit/>
          </a:bodyPr>
          <a:lstStyle/>
          <a:p>
            <a:pPr marL="0" indent="0" algn="ctr">
              <a:buNone/>
            </a:pPr>
            <a:r>
              <a:rPr lang="en-US" sz="1400" dirty="0">
                <a:solidFill>
                  <a:srgbClr val="212529"/>
                </a:solidFill>
                <a:latin typeface="Noto Sans" pitchFamily="34" charset="0"/>
                <a:ea typeface="Noto Sans" pitchFamily="34" charset="-122"/>
                <a:cs typeface="Noto Sans" pitchFamily="34" charset="-120"/>
              </a:rPr>
              <a:t>Faster Diagnosis</a:t>
            </a:r>
            <a:endParaRPr lang="en-US" sz="1400" dirty="0"/>
          </a:p>
        </p:txBody>
      </p:sp>
      <p:sp>
        <p:nvSpPr>
          <p:cNvPr id="58" name="Text 3">
            <a:extLst>
              <a:ext uri="{FF2B5EF4-FFF2-40B4-BE49-F238E27FC236}">
                <a16:creationId xmlns:a16="http://schemas.microsoft.com/office/drawing/2014/main" id="{491BBD91-778D-787B-1434-92E11E8D43BF}"/>
              </a:ext>
            </a:extLst>
          </p:cNvPr>
          <p:cNvSpPr/>
          <p:nvPr/>
        </p:nvSpPr>
        <p:spPr>
          <a:xfrm>
            <a:off x="801067" y="4246180"/>
            <a:ext cx="1934320" cy="215444"/>
          </a:xfrm>
          <a:prstGeom prst="rect">
            <a:avLst/>
          </a:prstGeom>
          <a:noFill/>
          <a:ln/>
        </p:spPr>
        <p:txBody>
          <a:bodyPr wrap="square" lIns="0" tIns="0" rIns="0" bIns="0" rtlCol="0" anchor="ctr">
            <a:spAutoFit/>
          </a:bodyPr>
          <a:lstStyle/>
          <a:p>
            <a:pPr algn="ctr"/>
            <a:r>
              <a:rPr lang="en-US" sz="1400" dirty="0">
                <a:solidFill>
                  <a:srgbClr val="212529"/>
                </a:solidFill>
                <a:latin typeface="Noto Sans" pitchFamily="34" charset="0"/>
                <a:ea typeface="Noto Sans" pitchFamily="34" charset="-122"/>
                <a:cs typeface="Noto Sans" pitchFamily="34" charset="-120"/>
              </a:rPr>
              <a:t>Cost &amp; Energy Savings</a:t>
            </a:r>
            <a:endParaRPr lang="en-US" sz="1400" dirty="0"/>
          </a:p>
        </p:txBody>
      </p:sp>
      <p:sp>
        <p:nvSpPr>
          <p:cNvPr id="65" name="Text 3">
            <a:extLst>
              <a:ext uri="{FF2B5EF4-FFF2-40B4-BE49-F238E27FC236}">
                <a16:creationId xmlns:a16="http://schemas.microsoft.com/office/drawing/2014/main" id="{CF4EC71F-3AC5-2AAE-D85C-1A45DF448DCE}"/>
              </a:ext>
            </a:extLst>
          </p:cNvPr>
          <p:cNvSpPr/>
          <p:nvPr/>
        </p:nvSpPr>
        <p:spPr>
          <a:xfrm>
            <a:off x="3674859" y="4133973"/>
            <a:ext cx="1501883" cy="430887"/>
          </a:xfrm>
          <a:prstGeom prst="rect">
            <a:avLst/>
          </a:prstGeom>
          <a:noFill/>
          <a:ln/>
        </p:spPr>
        <p:txBody>
          <a:bodyPr wrap="square" lIns="0" tIns="0" rIns="0" bIns="0" rtlCol="0" anchor="ctr">
            <a:spAutoFit/>
          </a:bodyPr>
          <a:lstStyle/>
          <a:p>
            <a:pPr algn="ctr"/>
            <a:r>
              <a:rPr lang="en-US" sz="1400" dirty="0">
                <a:solidFill>
                  <a:srgbClr val="212529"/>
                </a:solidFill>
                <a:latin typeface="Noto Sans" pitchFamily="34" charset="0"/>
                <a:ea typeface="Noto Sans" pitchFamily="34" charset="-122"/>
                <a:cs typeface="Noto Sans" pitchFamily="34" charset="-120"/>
              </a:rPr>
              <a:t>Scrap Rate Reduction</a:t>
            </a:r>
            <a:endParaRPr lang="en-US" sz="1400" dirty="0"/>
          </a:p>
        </p:txBody>
      </p:sp>
      <p:sp>
        <p:nvSpPr>
          <p:cNvPr id="69" name="Text 3">
            <a:extLst>
              <a:ext uri="{FF2B5EF4-FFF2-40B4-BE49-F238E27FC236}">
                <a16:creationId xmlns:a16="http://schemas.microsoft.com/office/drawing/2014/main" id="{3F3CA796-C9E3-8C06-3E99-FAF06EEB2207}"/>
              </a:ext>
            </a:extLst>
          </p:cNvPr>
          <p:cNvSpPr/>
          <p:nvPr/>
        </p:nvSpPr>
        <p:spPr>
          <a:xfrm>
            <a:off x="1017286" y="5647996"/>
            <a:ext cx="1501883" cy="430887"/>
          </a:xfrm>
          <a:prstGeom prst="rect">
            <a:avLst/>
          </a:prstGeom>
          <a:noFill/>
          <a:ln/>
        </p:spPr>
        <p:txBody>
          <a:bodyPr wrap="square" lIns="0" tIns="0" rIns="0" bIns="0" rtlCol="0" anchor="ctr">
            <a:spAutoFit/>
          </a:bodyPr>
          <a:lstStyle/>
          <a:p>
            <a:pPr algn="ctr"/>
            <a:r>
              <a:rPr lang="en-US" sz="1400" dirty="0">
                <a:solidFill>
                  <a:srgbClr val="212529"/>
                </a:solidFill>
                <a:latin typeface="Noto Sans" pitchFamily="34" charset="0"/>
                <a:ea typeface="Noto Sans" pitchFamily="34" charset="-122"/>
                <a:cs typeface="Noto Sans" pitchFamily="34" charset="-120"/>
              </a:rPr>
              <a:t>Visibility into Hidden Patterns</a:t>
            </a:r>
            <a:endParaRPr lang="en-US" sz="1400" dirty="0"/>
          </a:p>
        </p:txBody>
      </p:sp>
      <p:sp>
        <p:nvSpPr>
          <p:cNvPr id="73" name="Shape 2">
            <a:extLst>
              <a:ext uri="{FF2B5EF4-FFF2-40B4-BE49-F238E27FC236}">
                <a16:creationId xmlns:a16="http://schemas.microsoft.com/office/drawing/2014/main" id="{D4372D62-3304-8840-D3A0-05B779317A28}"/>
              </a:ext>
            </a:extLst>
          </p:cNvPr>
          <p:cNvSpPr/>
          <p:nvPr/>
        </p:nvSpPr>
        <p:spPr>
          <a:xfrm>
            <a:off x="3223418" y="4869324"/>
            <a:ext cx="2549524" cy="1353036"/>
          </a:xfrm>
          <a:prstGeom prst="rect">
            <a:avLst/>
          </a:prstGeom>
          <a:solidFill>
            <a:srgbClr val="2A9D8F">
              <a:alpha val="5000"/>
            </a:srgbClr>
          </a:solidFill>
          <a:ln/>
        </p:spPr>
        <p:txBody>
          <a:bodyPr/>
          <a:lstStyle/>
          <a:p>
            <a:endParaRPr lang="fr-MA" dirty="0"/>
          </a:p>
        </p:txBody>
      </p:sp>
      <p:sp>
        <p:nvSpPr>
          <p:cNvPr id="74" name="Text 18">
            <a:extLst>
              <a:ext uri="{FF2B5EF4-FFF2-40B4-BE49-F238E27FC236}">
                <a16:creationId xmlns:a16="http://schemas.microsoft.com/office/drawing/2014/main" id="{89AB1D34-E1BE-F78C-F71F-7D7EB9804B60}"/>
              </a:ext>
            </a:extLst>
          </p:cNvPr>
          <p:cNvSpPr/>
          <p:nvPr/>
        </p:nvSpPr>
        <p:spPr>
          <a:xfrm>
            <a:off x="3143935" y="5473006"/>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75" name="Text 19">
            <a:extLst>
              <a:ext uri="{FF2B5EF4-FFF2-40B4-BE49-F238E27FC236}">
                <a16:creationId xmlns:a16="http://schemas.microsoft.com/office/drawing/2014/main" id="{BCCE85EF-0072-A054-B250-5F8BC1679308}"/>
              </a:ext>
            </a:extLst>
          </p:cNvPr>
          <p:cNvSpPr/>
          <p:nvPr/>
        </p:nvSpPr>
        <p:spPr>
          <a:xfrm>
            <a:off x="3143935" y="5301822"/>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76" name="Text 20">
            <a:extLst>
              <a:ext uri="{FF2B5EF4-FFF2-40B4-BE49-F238E27FC236}">
                <a16:creationId xmlns:a16="http://schemas.microsoft.com/office/drawing/2014/main" id="{70C3B50B-8F1E-A83F-A3F2-CED90D82FA96}"/>
              </a:ext>
            </a:extLst>
          </p:cNvPr>
          <p:cNvSpPr/>
          <p:nvPr/>
        </p:nvSpPr>
        <p:spPr>
          <a:xfrm>
            <a:off x="3143935" y="5623290"/>
            <a:ext cx="65" cy="160941"/>
          </a:xfrm>
          <a:prstGeom prst="rect">
            <a:avLst/>
          </a:prstGeom>
          <a:noFill/>
          <a:ln/>
        </p:spPr>
        <p:txBody>
          <a:bodyPr wrap="none" lIns="0" tIns="0" rIns="0" bIns="0" rtlCol="0" anchor="ctr">
            <a:spAutoFit/>
          </a:bodyPr>
          <a:lstStyle/>
          <a:p>
            <a:pPr marL="0" indent="0" algn="l">
              <a:buNone/>
            </a:pPr>
            <a:endParaRPr lang="en-US" sz="1046" dirty="0"/>
          </a:p>
        </p:txBody>
      </p:sp>
      <p:sp>
        <p:nvSpPr>
          <p:cNvPr id="78" name="Text 3">
            <a:extLst>
              <a:ext uri="{FF2B5EF4-FFF2-40B4-BE49-F238E27FC236}">
                <a16:creationId xmlns:a16="http://schemas.microsoft.com/office/drawing/2014/main" id="{634E2CA0-87B8-D04F-4804-3C1133D4757B}"/>
              </a:ext>
            </a:extLst>
          </p:cNvPr>
          <p:cNvSpPr/>
          <p:nvPr/>
        </p:nvSpPr>
        <p:spPr>
          <a:xfrm>
            <a:off x="3673966" y="5647996"/>
            <a:ext cx="1501883" cy="430887"/>
          </a:xfrm>
          <a:prstGeom prst="rect">
            <a:avLst/>
          </a:prstGeom>
          <a:noFill/>
          <a:ln/>
        </p:spPr>
        <p:txBody>
          <a:bodyPr wrap="square" lIns="0" tIns="0" rIns="0" bIns="0" rtlCol="0" anchor="ctr">
            <a:spAutoFit/>
          </a:bodyPr>
          <a:lstStyle/>
          <a:p>
            <a:pPr algn="ctr"/>
            <a:r>
              <a:rPr lang="en-US" sz="1400" dirty="0">
                <a:solidFill>
                  <a:srgbClr val="212529"/>
                </a:solidFill>
                <a:latin typeface="Noto Sans" pitchFamily="34" charset="0"/>
                <a:ea typeface="Noto Sans" pitchFamily="34" charset="-122"/>
                <a:cs typeface="Noto Sans" pitchFamily="34" charset="-120"/>
              </a:rPr>
              <a:t>Stronger Process Control</a:t>
            </a:r>
            <a:endParaRPr lang="en-US" sz="1400" dirty="0"/>
          </a:p>
        </p:txBody>
      </p:sp>
      <p:pic>
        <p:nvPicPr>
          <p:cNvPr id="79" name="Image 6" descr="preencoded.png">
            <a:extLst>
              <a:ext uri="{FF2B5EF4-FFF2-40B4-BE49-F238E27FC236}">
                <a16:creationId xmlns:a16="http://schemas.microsoft.com/office/drawing/2014/main" id="{2FF888C7-8C53-5EFC-5F9F-19F4F601104A}"/>
              </a:ext>
            </a:extLst>
          </p:cNvPr>
          <p:cNvPicPr>
            <a:picLocks noChangeAspect="1"/>
          </p:cNvPicPr>
          <p:nvPr/>
        </p:nvPicPr>
        <p:blipFill>
          <a:blip r:embed="rId10"/>
          <a:stretch>
            <a:fillRect/>
          </a:stretch>
        </p:blipFill>
        <p:spPr>
          <a:xfrm>
            <a:off x="4147658" y="5001492"/>
            <a:ext cx="559174" cy="559174"/>
          </a:xfrm>
          <a:prstGeom prst="rect">
            <a:avLst/>
          </a:prstGeom>
        </p:spPr>
      </p:pic>
    </p:spTree>
    <p:extLst>
      <p:ext uri="{BB962C8B-B14F-4D97-AF65-F5344CB8AC3E}">
        <p14:creationId xmlns:p14="http://schemas.microsoft.com/office/powerpoint/2010/main" val="188444660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900</Words>
  <Application>Microsoft Office PowerPoint</Application>
  <PresentationFormat>Grand écran</PresentationFormat>
  <Paragraphs>90</Paragraphs>
  <Slides>8</Slides>
  <Notes>3</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8</vt:i4>
      </vt:variant>
    </vt:vector>
  </HeadingPairs>
  <TitlesOfParts>
    <vt:vector size="19" baseType="lpstr">
      <vt:lpstr>Meiryo</vt:lpstr>
      <vt:lpstr>72 Condensed</vt:lpstr>
      <vt:lpstr>Aptos</vt:lpstr>
      <vt:lpstr>Aptos (Corps)</vt:lpstr>
      <vt:lpstr>Aptos Display</vt:lpstr>
      <vt:lpstr>Arial</vt:lpstr>
      <vt:lpstr>Calibri</vt:lpstr>
      <vt:lpstr>inherit</vt:lpstr>
      <vt:lpstr>Noto Sans</vt:lpstr>
      <vt:lpstr>Roboto</vt:lpstr>
      <vt:lpstr>Thème Office</vt:lpstr>
      <vt:lpstr>ALS Furnace Sequence Passport</vt:lpstr>
      <vt:lpstr>The ALS Furnace Automated Anomaly Detection</vt:lpstr>
      <vt:lpstr>Présentation PowerPoint</vt:lpstr>
      <vt:lpstr>Présentation PowerPoint</vt:lpstr>
      <vt:lpstr>Présentation PowerPoint</vt:lpstr>
      <vt:lpstr>AI Model: Unmasking Hidden Anomalies</vt:lpstr>
      <vt:lpstr>System Architecture: From Data to Insights</vt:lpstr>
      <vt:lpstr>System Architecture: From Data to Insights</vt:lpstr>
    </vt:vector>
  </TitlesOfParts>
  <Company>AGC Glass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AYOUB.BELLOUCH@agc.com</dc:creator>
  <cp:lastModifiedBy>med yassine</cp:lastModifiedBy>
  <cp:revision>44</cp:revision>
  <dcterms:created xsi:type="dcterms:W3CDTF">2025-01-20T15:35:22Z</dcterms:created>
  <dcterms:modified xsi:type="dcterms:W3CDTF">2025-07-28T15:03:31Z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cc66615-6eec-41b4-b3fe-3a9a5bc67cec_Enabled">
    <vt:lpwstr>true</vt:lpwstr>
  </property>
  <property fmtid="{D5CDD505-2E9C-101B-9397-08002B2CF9AE}" pid="3" name="MSIP_Label_5cc66615-6eec-41b4-b3fe-3a9a5bc67cec_SetDate">
    <vt:lpwstr>2025-01-20T15:43:07Z</vt:lpwstr>
  </property>
  <property fmtid="{D5CDD505-2E9C-101B-9397-08002B2CF9AE}" pid="4" name="MSIP_Label_5cc66615-6eec-41b4-b3fe-3a9a5bc67cec_Method">
    <vt:lpwstr>Privileged</vt:lpwstr>
  </property>
  <property fmtid="{D5CDD505-2E9C-101B-9397-08002B2CF9AE}" pid="5" name="MSIP_Label_5cc66615-6eec-41b4-b3fe-3a9a5bc67cec_Name">
    <vt:lpwstr>GCEP2 - Internal Use Only</vt:lpwstr>
  </property>
  <property fmtid="{D5CDD505-2E9C-101B-9397-08002B2CF9AE}" pid="6" name="MSIP_Label_5cc66615-6eec-41b4-b3fe-3a9a5bc67cec_SiteId">
    <vt:lpwstr>90c56ca2-d892-45ce-810d-6cf368facdb3</vt:lpwstr>
  </property>
  <property fmtid="{D5CDD505-2E9C-101B-9397-08002B2CF9AE}" pid="7" name="MSIP_Label_5cc66615-6eec-41b4-b3fe-3a9a5bc67cec_ActionId">
    <vt:lpwstr>25b02947-e054-4c93-a262-605b428c540d</vt:lpwstr>
  </property>
  <property fmtid="{D5CDD505-2E9C-101B-9397-08002B2CF9AE}" pid="8" name="MSIP_Label_5cc66615-6eec-41b4-b3fe-3a9a5bc67cec_ContentBits">
    <vt:lpwstr>3</vt:lpwstr>
  </property>
  <property fmtid="{D5CDD505-2E9C-101B-9397-08002B2CF9AE}" pid="9" name="ClassificationContentMarkingFooterLocations">
    <vt:lpwstr>Thème Office:8</vt:lpwstr>
  </property>
  <property fmtid="{D5CDD505-2E9C-101B-9397-08002B2CF9AE}" pid="10" name="ClassificationContentMarkingFooterText">
    <vt:lpwstr> AGC Group Internal Use Only </vt:lpwstr>
  </property>
</Properties>
</file>